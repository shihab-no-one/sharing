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1675"/>
  <p:notesSz cx="6858000" cy="12191675"/>
  <p:embeddedFontLst>
    <p:embeddedFont>
      <p:font typeface="Cabin SemiBold"/>
      <p:regular r:id="rId15"/>
      <p:bold r:id="rId16"/>
      <p:italic r:id="rId17"/>
      <p:boldItalic r:id="rId18"/>
    </p:embeddedFont>
    <p:embeddedFont>
      <p:font typeface="Cabin"/>
      <p:regular r:id="rId19"/>
      <p:bold r:id="rId20"/>
      <p:italic r:id="rId21"/>
      <p:boldItalic r:id="rId22"/>
    </p:embeddedFont>
    <p:embeddedFont>
      <p:font typeface="Unbounded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abin-bold.fntdata"/><Relationship Id="rId11" Type="http://schemas.openxmlformats.org/officeDocument/2006/relationships/slide" Target="slides/slide7.xml"/><Relationship Id="rId22" Type="http://schemas.openxmlformats.org/officeDocument/2006/relationships/font" Target="fonts/Cabin-boldItalic.fntdata"/><Relationship Id="rId10" Type="http://schemas.openxmlformats.org/officeDocument/2006/relationships/slide" Target="slides/slide6.xml"/><Relationship Id="rId21" Type="http://schemas.openxmlformats.org/officeDocument/2006/relationships/font" Target="fonts/Cabin-italic.fntdata"/><Relationship Id="rId13" Type="http://schemas.openxmlformats.org/officeDocument/2006/relationships/slide" Target="slides/slide9.xml"/><Relationship Id="rId24" Type="http://schemas.openxmlformats.org/officeDocument/2006/relationships/font" Target="fonts/Unbounded-bold.fntdata"/><Relationship Id="rId12" Type="http://schemas.openxmlformats.org/officeDocument/2006/relationships/slide" Target="slides/slide8.xml"/><Relationship Id="rId23" Type="http://schemas.openxmlformats.org/officeDocument/2006/relationships/font" Target="fonts/Unbounded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CabinSemiBold-regular.fntdata"/><Relationship Id="rId14" Type="http://schemas.openxmlformats.org/officeDocument/2006/relationships/slide" Target="slides/slide10.xml"/><Relationship Id="rId17" Type="http://schemas.openxmlformats.org/officeDocument/2006/relationships/font" Target="fonts/CabinSemiBold-italic.fntdata"/><Relationship Id="rId16" Type="http://schemas.openxmlformats.org/officeDocument/2006/relationships/font" Target="fonts/CabinSemiBold-bold.fntdata"/><Relationship Id="rId5" Type="http://schemas.openxmlformats.org/officeDocument/2006/relationships/slide" Target="slides/slide1.xml"/><Relationship Id="rId19" Type="http://schemas.openxmlformats.org/officeDocument/2006/relationships/font" Target="fonts/Cabin-regular.fntdata"/><Relationship Id="rId6" Type="http://schemas.openxmlformats.org/officeDocument/2006/relationships/slide" Target="slides/slide2.xml"/><Relationship Id="rId18" Type="http://schemas.openxmlformats.org/officeDocument/2006/relationships/font" Target="fonts/CabinSemiBold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" name="Google Shape;4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8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76875" y="65589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6827270" cy="6858000"/>
          </a:xfrm>
          <a:prstGeom prst="rect">
            <a:avLst/>
          </a:prstGeom>
          <a:solidFill>
            <a:srgbClr val="0B3A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584185" y="1473200"/>
            <a:ext cx="6243084" cy="174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bin SemiBold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bin SemiBold"/>
                <a:ea typeface="Cabin SemiBold"/>
                <a:cs typeface="Cabin SemiBold"/>
                <a:sym typeface="Cabin SemiBold"/>
              </a:rPr>
              <a:t>UNIVERSITY PROJECT · AI COURSE PROJECT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4"/>
          <p:cNvSpPr/>
          <p:nvPr/>
        </p:nvSpPr>
        <p:spPr>
          <a:xfrm>
            <a:off x="584185" y="1730375"/>
            <a:ext cx="5760497" cy="2084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Unbounded"/>
              <a:buNone/>
            </a:pPr>
            <a:r>
              <a:rPr b="0" i="0" lang="en-US" sz="38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AI-Based Voice-Controlled LED Using Raspberry Pi Pico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584185" y="4018359"/>
            <a:ext cx="6243084" cy="284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bin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K M Shihab Jamil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584185" y="4531420"/>
            <a:ext cx="5760497" cy="853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bin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 We created a voice-controlled lighting prototype by combining a trained AI voice-command classifier with Raspberry Pi Pico and a relay-controlled LED.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6827270" y="0"/>
            <a:ext cx="5364425" cy="6858000"/>
          </a:xfrm>
          <a:prstGeom prst="rect">
            <a:avLst/>
          </a:prstGeom>
          <a:solidFill>
            <a:srgbClr val="1637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7132062" y="1710432"/>
            <a:ext cx="5059633" cy="174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100"/>
              <a:buFont typeface="Cabin SemiBold"/>
              <a:buNone/>
            </a:pPr>
            <a:r>
              <a:rPr b="0" i="0" lang="en-US" sz="1100" u="none" cap="none" strike="noStrike">
                <a:solidFill>
                  <a:srgbClr val="CAD6DE"/>
                </a:solidFill>
                <a:latin typeface="Cabin SemiBold"/>
                <a:ea typeface="Cabin SemiBold"/>
                <a:cs typeface="Cabin SemiBold"/>
                <a:sym typeface="Cabin SemiBold"/>
              </a:rPr>
              <a:t>BUILD PATH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7259059" y="2183507"/>
            <a:ext cx="4627844" cy="284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600"/>
              <a:buFont typeface="Cabin"/>
              <a:buNone/>
            </a:pPr>
            <a:r>
              <a:rPr b="0" i="0" lang="en-US" sz="16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My Voice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7259059" y="2696567"/>
            <a:ext cx="4627844" cy="284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600"/>
              <a:buFont typeface="Cabin"/>
              <a:buNone/>
            </a:pPr>
            <a:r>
              <a:rPr b="0" i="0" lang="en-US" sz="16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AI Voice Classifier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7259059" y="3209627"/>
            <a:ext cx="4627844" cy="284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600"/>
              <a:buFont typeface="Cabin"/>
              <a:buNone/>
            </a:pPr>
            <a:r>
              <a:rPr b="0" i="0" lang="en-US" sz="16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ON / OFF Command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7259059" y="3722688"/>
            <a:ext cx="4627844" cy="284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600"/>
              <a:buFont typeface="Cabin"/>
              <a:buNone/>
            </a:pPr>
            <a:r>
              <a:rPr b="0" i="0" lang="en-US" sz="16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Raspberry Pi Pico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7259059" y="4235748"/>
            <a:ext cx="4627844" cy="284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600"/>
              <a:buFont typeface="Cabin"/>
              <a:buNone/>
            </a:pPr>
            <a:r>
              <a:rPr b="0" i="0" lang="en-US" sz="16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Relay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7259059" y="4748808"/>
            <a:ext cx="4627844" cy="284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600"/>
              <a:buFont typeface="Cabin"/>
              <a:buNone/>
            </a:pPr>
            <a:r>
              <a:rPr b="0" i="0" lang="en-US" sz="16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LED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7132062" y="2566392"/>
            <a:ext cx="4754840" cy="31750"/>
          </a:xfrm>
          <a:prstGeom prst="rect">
            <a:avLst/>
          </a:prstGeom>
          <a:solidFill>
            <a:srgbClr val="3151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7132062" y="3079452"/>
            <a:ext cx="4754840" cy="31750"/>
          </a:xfrm>
          <a:prstGeom prst="rect">
            <a:avLst/>
          </a:prstGeom>
          <a:solidFill>
            <a:srgbClr val="3151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7132062" y="3592513"/>
            <a:ext cx="4754840" cy="31750"/>
          </a:xfrm>
          <a:prstGeom prst="rect">
            <a:avLst/>
          </a:prstGeom>
          <a:solidFill>
            <a:srgbClr val="3151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7132062" y="4105573"/>
            <a:ext cx="4754840" cy="31750"/>
          </a:xfrm>
          <a:prstGeom prst="rect">
            <a:avLst/>
          </a:prstGeom>
          <a:solidFill>
            <a:srgbClr val="3151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7132062" y="4618633"/>
            <a:ext cx="4754840" cy="31750"/>
          </a:xfrm>
          <a:prstGeom prst="rect">
            <a:avLst/>
          </a:prstGeom>
          <a:solidFill>
            <a:srgbClr val="3151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/>
          <p:nvPr/>
        </p:nvSpPr>
        <p:spPr>
          <a:xfrm>
            <a:off x="584185" y="431800"/>
            <a:ext cx="11607510" cy="174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3D4C3"/>
              </a:buClr>
              <a:buSzPts val="1100"/>
              <a:buFont typeface="Cabin SemiBold"/>
              <a:buNone/>
            </a:pPr>
            <a:r>
              <a:rPr b="0" i="0" lang="en-US" sz="1100" u="none" cap="none" strike="noStrike">
                <a:solidFill>
                  <a:srgbClr val="43D4C3"/>
                </a:solidFill>
                <a:latin typeface="Cabin SemiBold"/>
                <a:ea typeface="Cabin SemiBold"/>
                <a:cs typeface="Cabin SemiBold"/>
                <a:sym typeface="Cabin SemiBold"/>
              </a:rPr>
              <a:t>01 · PLAN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584185" y="688975"/>
            <a:ext cx="11175720" cy="8776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Unbounded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We planned the project as two connected systems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584185" y="1769864"/>
            <a:ext cx="11607510" cy="284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600"/>
              <a:buFont typeface="Cabin"/>
              <a:buNone/>
            </a:pPr>
            <a:r>
              <a:rPr b="0" i="0" lang="en-US" sz="16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AI software prepares the decision; hardware turns it into light.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584185" y="2181324"/>
            <a:ext cx="5073126" cy="2404765"/>
          </a:xfrm>
          <a:prstGeom prst="rect">
            <a:avLst/>
          </a:prstGeom>
          <a:solidFill>
            <a:srgbClr val="1637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5"/>
          <p:cNvSpPr/>
          <p:nvPr/>
        </p:nvSpPr>
        <p:spPr>
          <a:xfrm>
            <a:off x="863578" y="2460724"/>
            <a:ext cx="4793733" cy="284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600"/>
              <a:buFont typeface="Cabin"/>
              <a:buNone/>
            </a:pPr>
            <a:r>
              <a:rPr b="0" i="0" lang="en-US" sz="16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AI SOFTWARE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863578" y="2929334"/>
            <a:ext cx="4514340" cy="377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400"/>
              <a:buFont typeface="Cabin SemiBold"/>
              <a:buNone/>
            </a:pPr>
            <a:r>
              <a:rPr b="0" i="0" lang="en-US" sz="2400" u="none" cap="none" strike="noStrike">
                <a:solidFill>
                  <a:srgbClr val="CAD6DE"/>
                </a:solidFill>
                <a:latin typeface="Cabin SemiBold"/>
                <a:ea typeface="Cabin SemiBold"/>
                <a:cs typeface="Cabin SemiBold"/>
                <a:sym typeface="Cabin SemiBold"/>
              </a:rPr>
              <a:t>From recordings to predictions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863578" y="3453309"/>
            <a:ext cx="4514340" cy="853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600"/>
              <a:buFont typeface="Cabin"/>
              <a:buNone/>
            </a:pPr>
            <a:r>
              <a:rPr b="0" i="0" lang="en-US" sz="16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Record commands, create a dataset, prepare audio, train a classifier, test it, and generate ON/OFF predictions.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5962005" y="2181324"/>
            <a:ext cx="5797901" cy="2404765"/>
          </a:xfrm>
          <a:prstGeom prst="rect">
            <a:avLst/>
          </a:prstGeom>
          <a:solidFill>
            <a:srgbClr val="0B3A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5"/>
          <p:cNvSpPr/>
          <p:nvPr/>
        </p:nvSpPr>
        <p:spPr>
          <a:xfrm>
            <a:off x="6241398" y="2460724"/>
            <a:ext cx="5518508" cy="284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bin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HARDWARE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6241398" y="2929334"/>
            <a:ext cx="5239115" cy="377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bin SemiBold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bin SemiBold"/>
                <a:ea typeface="Cabin SemiBold"/>
                <a:cs typeface="Cabin SemiBold"/>
                <a:sym typeface="Cabin SemiBold"/>
              </a:rPr>
              <a:t>From code to physical light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6241398" y="3453309"/>
            <a:ext cx="5239115" cy="5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bin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Program the Pico, build the relay driver, connect the LED, receive serial commands, and control the physical light.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0" y="4916289"/>
            <a:ext cx="12191695" cy="1981200"/>
          </a:xfrm>
          <a:prstGeom prst="rect">
            <a:avLst/>
          </a:prstGeom>
          <a:solidFill>
            <a:srgbClr val="1637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584185" y="5144889"/>
            <a:ext cx="11607510" cy="174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100"/>
              <a:buFont typeface="Cabin SemiBold"/>
              <a:buNone/>
            </a:pPr>
            <a:r>
              <a:rPr b="0" i="0" lang="en-US" sz="1100" u="none" cap="none" strike="noStrike">
                <a:solidFill>
                  <a:srgbClr val="CAD6DE"/>
                </a:solidFill>
                <a:latin typeface="Cabin SemiBold"/>
                <a:ea typeface="Cabin SemiBold"/>
                <a:cs typeface="Cabin SemiBold"/>
                <a:sym typeface="Cabin SemiBold"/>
              </a:rPr>
              <a:t>PLANNED WORKFLOW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685783" y="5630664"/>
            <a:ext cx="355591" cy="355600"/>
          </a:xfrm>
          <a:prstGeom prst="ellipse">
            <a:avLst/>
          </a:prstGeom>
          <a:solidFill>
            <a:srgbClr val="0A988B"/>
          </a:solidFill>
          <a:ln cap="flat" cmpd="sng" w="12700">
            <a:solidFill>
              <a:srgbClr val="4960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756226" y="5706864"/>
            <a:ext cx="824289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bin SemiBold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bin SemiBold"/>
                <a:ea typeface="Cabin SemiBold"/>
                <a:cs typeface="Cabin SemiBold"/>
                <a:sym typeface="Cabin SemiBold"/>
              </a:rPr>
              <a:t>01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685783" y="6068814"/>
            <a:ext cx="1266496" cy="2833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00"/>
              <a:buFont typeface="Cabin SemiBold"/>
              <a:buNone/>
            </a:pPr>
            <a:r>
              <a:rPr b="0" i="0" lang="en-US" sz="1800" u="none" cap="none" strike="noStrike">
                <a:solidFill>
                  <a:srgbClr val="CAD6DE"/>
                </a:solidFill>
                <a:latin typeface="Cabin SemiBold"/>
                <a:ea typeface="Cabin SemiBold"/>
                <a:cs typeface="Cabin SemiBold"/>
                <a:sym typeface="Cabin SemiBold"/>
              </a:rPr>
              <a:t>Voice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2155473" y="5630664"/>
            <a:ext cx="377022" cy="377031"/>
          </a:xfrm>
          <a:prstGeom prst="ellipse">
            <a:avLst/>
          </a:prstGeom>
          <a:solidFill>
            <a:srgbClr val="0A988B"/>
          </a:solidFill>
          <a:ln cap="flat" cmpd="sng" w="12700">
            <a:solidFill>
              <a:srgbClr val="4960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2218972" y="5717580"/>
            <a:ext cx="85961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bin SemiBold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bin SemiBold"/>
                <a:ea typeface="Cabin SemiBold"/>
                <a:cs typeface="Cabin SemiBold"/>
                <a:sym typeface="Cabin SemiBold"/>
              </a:rPr>
              <a:t>02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2155473" y="6090245"/>
            <a:ext cx="1266595" cy="2833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00"/>
              <a:buFont typeface="Cabin SemiBold"/>
              <a:buNone/>
            </a:pPr>
            <a:r>
              <a:rPr b="0" i="0" lang="en-US" sz="1800" u="none" cap="none" strike="noStrike">
                <a:solidFill>
                  <a:srgbClr val="CAD6DE"/>
                </a:solidFill>
                <a:latin typeface="Cabin SemiBold"/>
                <a:ea typeface="Cabin SemiBold"/>
                <a:cs typeface="Cabin SemiBold"/>
                <a:sym typeface="Cabin SemiBold"/>
              </a:rPr>
              <a:t>Audio Input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3625263" y="5630664"/>
            <a:ext cx="379502" cy="379512"/>
          </a:xfrm>
          <a:prstGeom prst="ellipse">
            <a:avLst/>
          </a:prstGeom>
          <a:solidFill>
            <a:srgbClr val="0A988B"/>
          </a:solidFill>
          <a:ln cap="flat" cmpd="sng" w="12700">
            <a:solidFill>
              <a:srgbClr val="4960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3688762" y="5718770"/>
            <a:ext cx="862090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bin SemiBold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bin SemiBold"/>
                <a:ea typeface="Cabin SemiBold"/>
                <a:cs typeface="Cabin SemiBold"/>
                <a:sym typeface="Cabin SemiBold"/>
              </a:rPr>
              <a:t>03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3625263" y="6092726"/>
            <a:ext cx="1266595" cy="2833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00"/>
              <a:buFont typeface="Cabin SemiBold"/>
              <a:buNone/>
            </a:pPr>
            <a:r>
              <a:rPr b="0" i="0" lang="en-US" sz="1800" u="none" cap="none" strike="noStrike">
                <a:solidFill>
                  <a:srgbClr val="CAD6DE"/>
                </a:solidFill>
                <a:latin typeface="Cabin SemiBold"/>
                <a:ea typeface="Cabin SemiBold"/>
                <a:cs typeface="Cabin SemiBold"/>
                <a:sym typeface="Cabin SemiBold"/>
              </a:rPr>
              <a:t>AI Model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5095053" y="5630664"/>
            <a:ext cx="392896" cy="392906"/>
          </a:xfrm>
          <a:prstGeom prst="ellipse">
            <a:avLst/>
          </a:prstGeom>
          <a:solidFill>
            <a:srgbClr val="0A988B"/>
          </a:solidFill>
          <a:ln cap="flat" cmpd="sng" w="12700">
            <a:solidFill>
              <a:srgbClr val="4960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5158551" y="5725517"/>
            <a:ext cx="875484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bin SemiBold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bin SemiBold"/>
                <a:ea typeface="Cabin SemiBold"/>
                <a:cs typeface="Cabin SemiBold"/>
                <a:sym typeface="Cabin SemiBold"/>
              </a:rPr>
              <a:t>04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5095053" y="6106120"/>
            <a:ext cx="1266595" cy="2833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00"/>
              <a:buFont typeface="Cabin SemiBold"/>
              <a:buNone/>
            </a:pPr>
            <a:r>
              <a:rPr b="0" i="0" lang="en-US" sz="1800" u="none" cap="none" strike="noStrike">
                <a:solidFill>
                  <a:srgbClr val="CAD6DE"/>
                </a:solidFill>
                <a:latin typeface="Cabin SemiBold"/>
                <a:ea typeface="Cabin SemiBold"/>
                <a:cs typeface="Cabin SemiBold"/>
                <a:sym typeface="Cabin SemiBold"/>
              </a:rPr>
              <a:t>ON/OFF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6564843" y="5630664"/>
            <a:ext cx="379304" cy="379313"/>
          </a:xfrm>
          <a:prstGeom prst="ellipse">
            <a:avLst/>
          </a:prstGeom>
          <a:solidFill>
            <a:srgbClr val="0A988B"/>
          </a:solidFill>
          <a:ln cap="flat" cmpd="sng" w="12700">
            <a:solidFill>
              <a:srgbClr val="4960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6628341" y="5718671"/>
            <a:ext cx="861892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bin SemiBold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bin SemiBold"/>
                <a:ea typeface="Cabin SemiBold"/>
                <a:cs typeface="Cabin SemiBold"/>
                <a:sym typeface="Cabin SemiBold"/>
              </a:rPr>
              <a:t>05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6564843" y="6092527"/>
            <a:ext cx="1266595" cy="2833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00"/>
              <a:buFont typeface="Cabin SemiBold"/>
              <a:buNone/>
            </a:pPr>
            <a:r>
              <a:rPr b="0" i="0" lang="en-US" sz="1800" u="none" cap="none" strike="noStrike">
                <a:solidFill>
                  <a:srgbClr val="CAD6DE"/>
                </a:solidFill>
                <a:latin typeface="Cabin SemiBold"/>
                <a:ea typeface="Cabin SemiBold"/>
                <a:cs typeface="Cabin SemiBold"/>
                <a:sym typeface="Cabin SemiBold"/>
              </a:rPr>
              <a:t>Serial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8034633" y="5630664"/>
            <a:ext cx="384463" cy="384473"/>
          </a:xfrm>
          <a:prstGeom prst="ellipse">
            <a:avLst/>
          </a:prstGeom>
          <a:solidFill>
            <a:srgbClr val="0A988B"/>
          </a:solidFill>
          <a:ln cap="flat" cmpd="sng" w="12700">
            <a:solidFill>
              <a:srgbClr val="4960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8098131" y="5721251"/>
            <a:ext cx="867051" cy="2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bin SemiBold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bin SemiBold"/>
                <a:ea typeface="Cabin SemiBold"/>
                <a:cs typeface="Cabin SemiBold"/>
                <a:sym typeface="Cabin SemiBold"/>
              </a:rPr>
              <a:t>06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8034633" y="6097687"/>
            <a:ext cx="3471280" cy="2833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800"/>
              <a:buFont typeface="Cabin SemiBold"/>
              <a:buNone/>
            </a:pPr>
            <a:r>
              <a:rPr b="0" i="0" lang="en-US" sz="1800" u="none" cap="none" strike="noStrike">
                <a:solidFill>
                  <a:srgbClr val="CAD6DE"/>
                </a:solidFill>
                <a:latin typeface="Cabin SemiBold"/>
                <a:ea typeface="Cabin SemiBold"/>
                <a:cs typeface="Cabin SemiBold"/>
                <a:sym typeface="Cabin SemiBold"/>
              </a:rPr>
              <a:t>Pico → Relay → LED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"/>
          <p:cNvSpPr/>
          <p:nvPr/>
        </p:nvSpPr>
        <p:spPr>
          <a:xfrm>
            <a:off x="533387" y="355600"/>
            <a:ext cx="11658308" cy="174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3D4C3"/>
              </a:buClr>
              <a:buSzPts val="1100"/>
              <a:buFont typeface="Cabin SemiBold"/>
              <a:buNone/>
            </a:pPr>
            <a:r>
              <a:rPr b="0" i="0" lang="en-US" sz="1100" u="none" cap="none" strike="noStrike">
                <a:solidFill>
                  <a:srgbClr val="43D4C3"/>
                </a:solidFill>
                <a:latin typeface="Cabin SemiBold"/>
                <a:ea typeface="Cabin SemiBold"/>
                <a:cs typeface="Cabin SemiBold"/>
                <a:sym typeface="Cabin SemiBold"/>
              </a:rPr>
              <a:t>02 · COMPONENTS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533387" y="612775"/>
            <a:ext cx="11124922" cy="8776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Unbounded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We assembled the hardware around a Pico-controlled relay chain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533387" y="1693664"/>
            <a:ext cx="11124922" cy="1037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600"/>
              <a:buFont typeface="Cabin"/>
              <a:buNone/>
            </a:pPr>
            <a:r>
              <a:rPr b="0" i="0" lang="en-US" sz="16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We connected the Pico to the breadboard, built the transistor-based relay driver circuit, and connected the relay to control the LED.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7000"/>
              </a:lnSpc>
              <a:spcBef>
                <a:spcPts val="1400"/>
              </a:spcBef>
              <a:spcAft>
                <a:spcPts val="0"/>
              </a:spcAft>
              <a:buClr>
                <a:srgbClr val="CAD6DE"/>
              </a:buClr>
              <a:buSzPts val="1600"/>
              <a:buFont typeface="Cabin"/>
              <a:buNone/>
            </a:pPr>
            <a:r>
              <a:rPr b="0" i="0" lang="en-US" sz="16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Hardware relationship: Pico GPIO → Transistor Driver → Relay → LED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438600" y="3347583"/>
            <a:ext cx="3855600" cy="3149700"/>
          </a:xfrm>
          <a:prstGeom prst="rect">
            <a:avLst/>
          </a:prstGeom>
          <a:solidFill>
            <a:srgbClr val="1637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6"/>
          <p:cNvSpPr/>
          <p:nvPr/>
        </p:nvSpPr>
        <p:spPr>
          <a:xfrm>
            <a:off x="641807" y="3550774"/>
            <a:ext cx="36525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600"/>
              <a:buFont typeface="Cabin"/>
              <a:buNone/>
            </a:pPr>
            <a:r>
              <a:rPr b="0" i="0" lang="en-US" sz="16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COMPONENTS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641807" y="3955884"/>
            <a:ext cx="3449400" cy="14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600"/>
              <a:buFont typeface="Cabin"/>
              <a:buNone/>
            </a:pPr>
            <a:r>
              <a:rPr b="0" i="0" lang="en-US" sz="16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Raspberry Pi Pico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600"/>
              <a:buFont typeface="Cabin"/>
              <a:buNone/>
            </a:pPr>
            <a:r>
              <a:rPr b="0" i="0" lang="en-US" sz="16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MAX9814 microphone amplifier module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600"/>
              <a:buFont typeface="Cabin"/>
              <a:buNone/>
            </a:pPr>
            <a:r>
              <a:rPr b="0" i="0" lang="en-US" sz="16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5V relay module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600"/>
              <a:buFont typeface="Cabin"/>
              <a:buNone/>
            </a:pPr>
            <a:r>
              <a:rPr b="0" i="0" lang="en-US" sz="16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D882P transistor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600"/>
              <a:buFont typeface="Cabin"/>
              <a:buNone/>
            </a:pPr>
            <a:r>
              <a:rPr b="0" i="0" lang="en-US" sz="16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S9013 transistor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4497422" y="3347500"/>
            <a:ext cx="3330000" cy="3149700"/>
          </a:xfrm>
          <a:prstGeom prst="rect">
            <a:avLst/>
          </a:prstGeom>
          <a:solidFill>
            <a:srgbClr val="0B3A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4700618" y="3550712"/>
            <a:ext cx="31266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bin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SUPPORT PARTS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4700618" y="3955822"/>
            <a:ext cx="2923500" cy="14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bin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LED light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bin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150 Ω resistors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bin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Breadboard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bin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Jumper wires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bin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USB cable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" name="Google Shape;88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10425" y="5054550"/>
            <a:ext cx="1442655" cy="144265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10420" y="3347500"/>
            <a:ext cx="1442654" cy="144265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423076" y="5054551"/>
            <a:ext cx="1442648" cy="1442652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23076" y="3347500"/>
            <a:ext cx="1442650" cy="144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"/>
          <p:cNvSpPr/>
          <p:nvPr/>
        </p:nvSpPr>
        <p:spPr>
          <a:xfrm>
            <a:off x="533387" y="355600"/>
            <a:ext cx="11658308" cy="174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3D4C3"/>
              </a:buClr>
              <a:buSzPts val="1100"/>
              <a:buFont typeface="Cabin SemiBold"/>
              <a:buNone/>
            </a:pPr>
            <a:r>
              <a:rPr b="0" i="0" lang="en-US" sz="1100" u="none" cap="none" strike="noStrike">
                <a:solidFill>
                  <a:srgbClr val="43D4C3"/>
                </a:solidFill>
                <a:latin typeface="Cabin SemiBold"/>
                <a:ea typeface="Cabin SemiBold"/>
                <a:cs typeface="Cabin SemiBold"/>
                <a:sym typeface="Cabin SemiBold"/>
              </a:rPr>
              <a:t>03 · ASSEMBLY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533387" y="612775"/>
            <a:ext cx="11124922" cy="411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Unbounded"/>
              <a:buNone/>
            </a:pPr>
            <a:r>
              <a:rPr b="0" i="0" lang="en-US" sz="30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We tested the Pico and relay before adding the AI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533387" y="1510647"/>
            <a:ext cx="116583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600"/>
              <a:buFont typeface="Cabin"/>
              <a:buNone/>
            </a:pPr>
            <a:r>
              <a:rPr b="0" i="0" lang="en-US" sz="16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We verified the physical chain first, so the AI would not hide a hardware problem.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533387" y="3036445"/>
            <a:ext cx="2552700" cy="2209800"/>
          </a:xfrm>
          <a:prstGeom prst="roundRect">
            <a:avLst>
              <a:gd fmla="val 517" name="adj"/>
            </a:avLst>
          </a:pr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7"/>
          <p:cNvSpPr/>
          <p:nvPr/>
        </p:nvSpPr>
        <p:spPr>
          <a:xfrm>
            <a:off x="736582" y="3239645"/>
            <a:ext cx="8244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A988B"/>
              </a:buClr>
              <a:buSzPts val="1600"/>
              <a:buFont typeface="Cabin SemiBold"/>
              <a:buNone/>
            </a:pPr>
            <a:r>
              <a:rPr b="0" i="0" lang="en-US" sz="1600" u="none" cap="none" strike="noStrike">
                <a:solidFill>
                  <a:srgbClr val="0A988B"/>
                </a:solidFill>
                <a:latin typeface="Cabin SemiBold"/>
                <a:ea typeface="Cabin SemiBold"/>
                <a:cs typeface="Cabin SemiBold"/>
                <a:sym typeface="Cabin SemiBold"/>
              </a:rPr>
              <a:t>01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533387" y="3524105"/>
            <a:ext cx="2552700" cy="19200"/>
          </a:xfrm>
          <a:prstGeom prst="rect">
            <a:avLst/>
          </a:prstGeom>
          <a:solidFill>
            <a:srgbClr val="0A98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7"/>
          <p:cNvSpPr/>
          <p:nvPr/>
        </p:nvSpPr>
        <p:spPr>
          <a:xfrm>
            <a:off x="736582" y="3664996"/>
            <a:ext cx="21462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bin SemiBold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bin SemiBold"/>
                <a:ea typeface="Cabin SemiBold"/>
                <a:cs typeface="Cabin SemiBold"/>
                <a:sym typeface="Cabin SemiBold"/>
              </a:rPr>
              <a:t>Connect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736582" y="4188970"/>
            <a:ext cx="21462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600"/>
              <a:buFont typeface="Cabin"/>
              <a:buNone/>
            </a:pPr>
            <a:r>
              <a:rPr b="0" i="0" lang="en-US" sz="16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Thonny IDE, MicroPython, USB, and COM3 connection.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3390815" y="3036445"/>
            <a:ext cx="2552700" cy="2209800"/>
          </a:xfrm>
          <a:prstGeom prst="roundRect">
            <a:avLst>
              <a:gd fmla="val 517" name="adj"/>
            </a:avLst>
          </a:pr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7"/>
          <p:cNvSpPr/>
          <p:nvPr/>
        </p:nvSpPr>
        <p:spPr>
          <a:xfrm>
            <a:off x="3594010" y="3239645"/>
            <a:ext cx="8595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A988B"/>
              </a:buClr>
              <a:buSzPts val="1600"/>
              <a:buFont typeface="Cabin SemiBold"/>
              <a:buNone/>
            </a:pPr>
            <a:r>
              <a:rPr b="0" i="0" lang="en-US" sz="1600" u="none" cap="none" strike="noStrike">
                <a:solidFill>
                  <a:srgbClr val="0A988B"/>
                </a:solidFill>
                <a:latin typeface="Cabin SemiBold"/>
                <a:ea typeface="Cabin SemiBold"/>
                <a:cs typeface="Cabin SemiBold"/>
                <a:sym typeface="Cabin SemiBold"/>
              </a:rPr>
              <a:t>02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3390815" y="3524105"/>
            <a:ext cx="2552700" cy="19200"/>
          </a:xfrm>
          <a:prstGeom prst="rect">
            <a:avLst/>
          </a:prstGeom>
          <a:solidFill>
            <a:srgbClr val="0A98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7"/>
          <p:cNvSpPr/>
          <p:nvPr/>
        </p:nvSpPr>
        <p:spPr>
          <a:xfrm>
            <a:off x="3594010" y="3664996"/>
            <a:ext cx="21462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bin SemiBold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bin SemiBold"/>
                <a:ea typeface="Cabin SemiBold"/>
                <a:cs typeface="Cabin SemiBold"/>
                <a:sym typeface="Cabin SemiBold"/>
              </a:rPr>
              <a:t>Detect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3594010" y="4188970"/>
            <a:ext cx="21462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600"/>
              <a:buFont typeface="Cabin"/>
              <a:buNone/>
            </a:pPr>
            <a:r>
              <a:rPr b="0" i="0" lang="en-US" sz="16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Confirm the Pico and MicroPython environment.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6248244" y="3036445"/>
            <a:ext cx="2552700" cy="2209800"/>
          </a:xfrm>
          <a:prstGeom prst="roundRect">
            <a:avLst>
              <a:gd fmla="val 517" name="adj"/>
            </a:avLst>
          </a:pr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7"/>
          <p:cNvSpPr/>
          <p:nvPr/>
        </p:nvSpPr>
        <p:spPr>
          <a:xfrm>
            <a:off x="6451439" y="3239645"/>
            <a:ext cx="8622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A988B"/>
              </a:buClr>
              <a:buSzPts val="1600"/>
              <a:buFont typeface="Cabin SemiBold"/>
              <a:buNone/>
            </a:pPr>
            <a:r>
              <a:rPr b="0" i="0" lang="en-US" sz="1600" u="none" cap="none" strike="noStrike">
                <a:solidFill>
                  <a:srgbClr val="0A988B"/>
                </a:solidFill>
                <a:latin typeface="Cabin SemiBold"/>
                <a:ea typeface="Cabin SemiBold"/>
                <a:cs typeface="Cabin SemiBold"/>
                <a:sym typeface="Cabin SemiBold"/>
              </a:rPr>
              <a:t>03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6248244" y="3524105"/>
            <a:ext cx="2552700" cy="19200"/>
          </a:xfrm>
          <a:prstGeom prst="rect">
            <a:avLst/>
          </a:prstGeom>
          <a:solidFill>
            <a:srgbClr val="0A98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7"/>
          <p:cNvSpPr/>
          <p:nvPr/>
        </p:nvSpPr>
        <p:spPr>
          <a:xfrm>
            <a:off x="6451439" y="3664996"/>
            <a:ext cx="21462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bin SemiBold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bin SemiBold"/>
                <a:ea typeface="Cabin SemiBold"/>
                <a:cs typeface="Cabin SemiBold"/>
                <a:sym typeface="Cabin SemiBold"/>
              </a:rPr>
              <a:t>Test GPIO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6451439" y="4188970"/>
            <a:ext cx="21462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600"/>
              <a:buFont typeface="Cabin"/>
              <a:buNone/>
            </a:pPr>
            <a:r>
              <a:rPr b="0" i="0" lang="en-US" sz="16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Check GPIO behavior and LED ON/OFF testing.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9105672" y="3036445"/>
            <a:ext cx="2552700" cy="2209800"/>
          </a:xfrm>
          <a:prstGeom prst="roundRect">
            <a:avLst>
              <a:gd fmla="val 517" name="adj"/>
            </a:avLst>
          </a:pr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7"/>
          <p:cNvSpPr/>
          <p:nvPr/>
        </p:nvSpPr>
        <p:spPr>
          <a:xfrm>
            <a:off x="9308867" y="3239645"/>
            <a:ext cx="8754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0A988B"/>
              </a:buClr>
              <a:buSzPts val="1600"/>
              <a:buFont typeface="Cabin SemiBold"/>
              <a:buNone/>
            </a:pPr>
            <a:r>
              <a:rPr b="0" i="0" lang="en-US" sz="1600" u="none" cap="none" strike="noStrike">
                <a:solidFill>
                  <a:srgbClr val="0A988B"/>
                </a:solidFill>
                <a:latin typeface="Cabin SemiBold"/>
                <a:ea typeface="Cabin SemiBold"/>
                <a:cs typeface="Cabin SemiBold"/>
                <a:sym typeface="Cabin SemiBold"/>
              </a:rPr>
              <a:t>04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9105672" y="3524105"/>
            <a:ext cx="2552700" cy="19200"/>
          </a:xfrm>
          <a:prstGeom prst="rect">
            <a:avLst/>
          </a:prstGeom>
          <a:solidFill>
            <a:srgbClr val="0A98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"/>
          <p:cNvSpPr/>
          <p:nvPr/>
        </p:nvSpPr>
        <p:spPr>
          <a:xfrm>
            <a:off x="9308867" y="3664996"/>
            <a:ext cx="21462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bin SemiBold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bin SemiBold"/>
                <a:ea typeface="Cabin SemiBold"/>
                <a:cs typeface="Cabin SemiBold"/>
                <a:sym typeface="Cabin SemiBold"/>
              </a:rPr>
              <a:t>Test relay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9308867" y="4188970"/>
            <a:ext cx="21462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600"/>
              <a:buFont typeface="Cabin"/>
              <a:buNone/>
            </a:pPr>
            <a:r>
              <a:rPr b="0" i="0" lang="en-US" sz="16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Verify serial communication and relay switching.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533387" y="6310313"/>
            <a:ext cx="11658308" cy="1666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9EB6BF"/>
              </a:buClr>
              <a:buSzPts val="1050"/>
              <a:buFont typeface="Cabin"/>
              <a:buNone/>
            </a:pPr>
            <a:r>
              <a:rPr b="0" i="0" lang="en-US" sz="1050" u="none" cap="none" strike="noStrike">
                <a:solidFill>
                  <a:srgbClr val="9EB6BF"/>
                </a:solidFill>
                <a:latin typeface="Cabin"/>
                <a:ea typeface="Cabin"/>
                <a:cs typeface="Cabin"/>
                <a:sym typeface="Cabin"/>
              </a:rPr>
              <a:t>Control logic: ON command → Pico receives ON → GPIO activates relay → LED turns ON. OFF reverses the chain.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/>
          <p:nvPr/>
        </p:nvSpPr>
        <p:spPr>
          <a:xfrm>
            <a:off x="0" y="0"/>
            <a:ext cx="5079873" cy="6858000"/>
          </a:xfrm>
          <a:prstGeom prst="rect">
            <a:avLst/>
          </a:prstGeom>
          <a:solidFill>
            <a:srgbClr val="0B3A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8"/>
          <p:cNvSpPr/>
          <p:nvPr/>
        </p:nvSpPr>
        <p:spPr>
          <a:xfrm>
            <a:off x="584185" y="431800"/>
            <a:ext cx="4495688" cy="174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bin SemiBold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bin SemiBold"/>
                <a:ea typeface="Cabin SemiBold"/>
                <a:cs typeface="Cabin SemiBold"/>
                <a:sym typeface="Cabin SemiBold"/>
              </a:rPr>
              <a:t>04 · DATASET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584185" y="688975"/>
            <a:ext cx="4165496" cy="13165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Unbounded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We started the dataset with my own voice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584185" y="2208709"/>
            <a:ext cx="4165496" cy="5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bin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We recorded multiple samples for two command classes: “Light On” and “Light Off."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584185" y="6259513"/>
            <a:ext cx="4495688" cy="1666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bin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“I started by creating a dataset from my own voice recordings.”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5460865" y="431800"/>
            <a:ext cx="1379100" cy="3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3D4C3"/>
              </a:buClr>
              <a:buSzPts val="1100"/>
              <a:buFont typeface="Cabin SemiBold"/>
              <a:buNone/>
            </a:pPr>
            <a:r>
              <a:t/>
            </a:r>
            <a:endParaRPr sz="1100">
              <a:solidFill>
                <a:srgbClr val="43D4C3"/>
              </a:solidFill>
              <a:latin typeface="Cabin SemiBold"/>
              <a:ea typeface="Cabin SemiBold"/>
              <a:cs typeface="Cabin SemiBold"/>
              <a:sym typeface="Cabin SemiBold"/>
            </a:endParaRPr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3D4C3"/>
              </a:buClr>
              <a:buSzPts val="1100"/>
              <a:buFont typeface="Cabin SemiBold"/>
              <a:buNone/>
            </a:pPr>
            <a:r>
              <a:t/>
            </a:r>
            <a:endParaRPr sz="1100">
              <a:solidFill>
                <a:srgbClr val="43D4C3"/>
              </a:solidFill>
              <a:latin typeface="Cabin SemiBold"/>
              <a:ea typeface="Cabin SemiBold"/>
              <a:cs typeface="Cabin SemiBold"/>
              <a:sym typeface="Cabin SemiBold"/>
            </a:endParaRPr>
          </a:p>
        </p:txBody>
      </p:sp>
      <p:pic>
        <p:nvPicPr>
          <p:cNvPr id="132" name="Google Shape;132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96248" y="606425"/>
            <a:ext cx="4460080" cy="59467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"/>
          <p:cNvSpPr/>
          <p:nvPr/>
        </p:nvSpPr>
        <p:spPr>
          <a:xfrm>
            <a:off x="533387" y="355600"/>
            <a:ext cx="11658308" cy="174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3D4C3"/>
              </a:buClr>
              <a:buSzPts val="1100"/>
              <a:buFont typeface="Cabin SemiBold"/>
              <a:buNone/>
            </a:pPr>
            <a:r>
              <a:rPr b="0" i="0" lang="en-US" sz="1100" u="none" cap="none" strike="noStrike">
                <a:solidFill>
                  <a:srgbClr val="43D4C3"/>
                </a:solidFill>
                <a:latin typeface="Cabin SemiBold"/>
                <a:ea typeface="Cabin SemiBold"/>
                <a:cs typeface="Cabin SemiBold"/>
                <a:sym typeface="Cabin SemiBold"/>
              </a:rPr>
              <a:t>05 · DATA PREPARATION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9"/>
          <p:cNvSpPr/>
          <p:nvPr/>
        </p:nvSpPr>
        <p:spPr>
          <a:xfrm>
            <a:off x="533387" y="612775"/>
            <a:ext cx="11124922" cy="8776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Unbounded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We expanded the recordings, then converted audio into features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9"/>
          <p:cNvSpPr/>
          <p:nvPr/>
        </p:nvSpPr>
        <p:spPr>
          <a:xfrm>
            <a:off x="533387" y="1693664"/>
            <a:ext cx="11658308" cy="284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600"/>
              <a:buFont typeface="Cabin"/>
              <a:buNone/>
            </a:pPr>
            <a:r>
              <a:rPr b="0" i="0" lang="en-US" sz="16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My recordings and selected additional Google/public voice samples became one organized training dataset.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9"/>
          <p:cNvSpPr/>
          <p:nvPr/>
        </p:nvSpPr>
        <p:spPr>
          <a:xfrm>
            <a:off x="533387" y="2478980"/>
            <a:ext cx="3967361" cy="4150420"/>
          </a:xfrm>
          <a:prstGeom prst="rect">
            <a:avLst/>
          </a:prstGeom>
          <a:solidFill>
            <a:srgbClr val="1637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9"/>
          <p:cNvSpPr/>
          <p:nvPr/>
        </p:nvSpPr>
        <p:spPr>
          <a:xfrm>
            <a:off x="761981" y="2707580"/>
            <a:ext cx="3738767" cy="284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600"/>
              <a:buFont typeface="Cabin"/>
              <a:buNone/>
            </a:pPr>
            <a:r>
              <a:rPr b="0" i="0" lang="en-US" sz="16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COMBINED DATASET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761981" y="3341291"/>
            <a:ext cx="3510172" cy="3779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400"/>
              <a:buFont typeface="Cabin SemiBold"/>
              <a:buNone/>
            </a:pPr>
            <a:r>
              <a:rPr b="0" i="0" lang="en-US" sz="2400" u="none" cap="none" strike="noStrike">
                <a:solidFill>
                  <a:srgbClr val="CAD6DE"/>
                </a:solidFill>
                <a:latin typeface="Cabin SemiBold"/>
                <a:ea typeface="Cabin SemiBold"/>
                <a:cs typeface="Cabin SemiBold"/>
                <a:sym typeface="Cabin SemiBold"/>
              </a:rPr>
              <a:t>Two sources, two classes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9"/>
          <p:cNvSpPr/>
          <p:nvPr/>
        </p:nvSpPr>
        <p:spPr>
          <a:xfrm>
            <a:off x="761981" y="3865265"/>
            <a:ext cx="3510172" cy="11378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600"/>
              <a:buFont typeface="Cabin"/>
              <a:buNone/>
            </a:pPr>
            <a:r>
              <a:rPr b="0" i="0" lang="en-US" sz="16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Our recordings + additional Google/public voice dataset → combined dataset → Light On / Light Off classes.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761981" y="5187255"/>
            <a:ext cx="3510172" cy="5000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050"/>
              <a:buFont typeface="Cabin"/>
              <a:buNone/>
            </a:pPr>
            <a:r>
              <a:rPr b="0" i="0" lang="en-US" sz="105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We selected suitable additional samples and organized them into the same command classes; the public dataset is not identical to my recordings.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4805441" y="2478980"/>
            <a:ext cx="6852900" cy="4150500"/>
          </a:xfrm>
          <a:prstGeom prst="rect">
            <a:avLst/>
          </a:prstGeom>
          <a:solidFill>
            <a:srgbClr val="0B3A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9"/>
          <p:cNvSpPr/>
          <p:nvPr/>
        </p:nvSpPr>
        <p:spPr>
          <a:xfrm>
            <a:off x="5034035" y="3651780"/>
            <a:ext cx="66243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bin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PREPROCESSING FLOW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5046635" y="4132991"/>
            <a:ext cx="1253700" cy="787500"/>
          </a:xfrm>
          <a:prstGeom prst="rect">
            <a:avLst/>
          </a:pr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9"/>
          <p:cNvSpPr/>
          <p:nvPr/>
        </p:nvSpPr>
        <p:spPr>
          <a:xfrm>
            <a:off x="5034035" y="4120391"/>
            <a:ext cx="1279200" cy="812700"/>
          </a:xfrm>
          <a:prstGeom prst="rect">
            <a:avLst/>
          </a:prstGeom>
          <a:solidFill>
            <a:srgbClr val="4960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9"/>
          <p:cNvSpPr/>
          <p:nvPr/>
        </p:nvSpPr>
        <p:spPr>
          <a:xfrm>
            <a:off x="5619709" y="4374391"/>
            <a:ext cx="693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400"/>
              <a:buFont typeface="Cabin SemiBold"/>
              <a:buNone/>
            </a:pPr>
            <a:r>
              <a:rPr b="0" i="0" lang="en-US" sz="2400" u="none" cap="none" strike="noStrike">
                <a:solidFill>
                  <a:srgbClr val="CAD6DE"/>
                </a:solidFill>
                <a:latin typeface="Cabin SemiBold"/>
                <a:ea typeface="Cabin SemiBold"/>
                <a:cs typeface="Cabin SemiBold"/>
                <a:sym typeface="Cabin SemiBold"/>
              </a:rPr>
              <a:t>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5135632" y="5015741"/>
            <a:ext cx="1075800" cy="2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bin SemiBold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bin SemiBold"/>
                <a:ea typeface="Cabin SemiBold"/>
                <a:cs typeface="Cabin SemiBold"/>
                <a:sym typeface="Cabin SemiBold"/>
              </a:rPr>
              <a:t>Audio Files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6325732" y="4132991"/>
            <a:ext cx="1253700" cy="787500"/>
          </a:xfrm>
          <a:prstGeom prst="rect">
            <a:avLst/>
          </a:pr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9"/>
          <p:cNvSpPr/>
          <p:nvPr/>
        </p:nvSpPr>
        <p:spPr>
          <a:xfrm>
            <a:off x="6313131" y="4120391"/>
            <a:ext cx="1279200" cy="812700"/>
          </a:xfrm>
          <a:prstGeom prst="rect">
            <a:avLst/>
          </a:prstGeom>
          <a:solidFill>
            <a:srgbClr val="4960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9"/>
          <p:cNvSpPr/>
          <p:nvPr/>
        </p:nvSpPr>
        <p:spPr>
          <a:xfrm>
            <a:off x="6872314" y="4374391"/>
            <a:ext cx="720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400"/>
              <a:buFont typeface="Cabin SemiBold"/>
              <a:buNone/>
            </a:pPr>
            <a:r>
              <a:rPr b="0" i="0" lang="en-US" sz="2400" u="none" cap="none" strike="noStrike">
                <a:solidFill>
                  <a:srgbClr val="CAD6DE"/>
                </a:solidFill>
                <a:latin typeface="Cabin SemiBold"/>
                <a:ea typeface="Cabin SemiBold"/>
                <a:cs typeface="Cabin SemiBold"/>
                <a:sym typeface="Cabin SemiBold"/>
              </a:rPr>
              <a:t>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6414729" y="5015741"/>
            <a:ext cx="10758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bin SemiBold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bin SemiBold"/>
                <a:ea typeface="Cabin SemiBold"/>
                <a:cs typeface="Cabin SemiBold"/>
                <a:sym typeface="Cabin SemiBold"/>
              </a:rPr>
              <a:t>Audio Preprocessing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7604828" y="4132991"/>
            <a:ext cx="1253700" cy="787500"/>
          </a:xfrm>
          <a:prstGeom prst="rect">
            <a:avLst/>
          </a:pr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9"/>
          <p:cNvSpPr/>
          <p:nvPr/>
        </p:nvSpPr>
        <p:spPr>
          <a:xfrm>
            <a:off x="7592227" y="4120391"/>
            <a:ext cx="1279200" cy="812700"/>
          </a:xfrm>
          <a:prstGeom prst="rect">
            <a:avLst/>
          </a:prstGeom>
          <a:solidFill>
            <a:srgbClr val="4960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9"/>
          <p:cNvSpPr/>
          <p:nvPr/>
        </p:nvSpPr>
        <p:spPr>
          <a:xfrm>
            <a:off x="8149525" y="4374391"/>
            <a:ext cx="721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400"/>
              <a:buFont typeface="Cabin SemiBold"/>
              <a:buNone/>
            </a:pPr>
            <a:r>
              <a:rPr b="0" i="0" lang="en-US" sz="2400" u="none" cap="none" strike="noStrike">
                <a:solidFill>
                  <a:srgbClr val="CAD6DE"/>
                </a:solidFill>
                <a:latin typeface="Cabin SemiBold"/>
                <a:ea typeface="Cabin SemiBold"/>
                <a:cs typeface="Cabin SemiBold"/>
                <a:sym typeface="Cabin SemiBold"/>
              </a:rPr>
              <a:t>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7693825" y="5015741"/>
            <a:ext cx="10761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bin SemiBold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bin SemiBold"/>
                <a:ea typeface="Cabin SemiBold"/>
                <a:cs typeface="Cabin SemiBold"/>
                <a:sym typeface="Cabin SemiBold"/>
              </a:rPr>
              <a:t>Feature Extraction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8884023" y="4132991"/>
            <a:ext cx="1253700" cy="787500"/>
          </a:xfrm>
          <a:prstGeom prst="rect">
            <a:avLst/>
          </a:pr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9"/>
          <p:cNvSpPr/>
          <p:nvPr/>
        </p:nvSpPr>
        <p:spPr>
          <a:xfrm>
            <a:off x="8871423" y="4120391"/>
            <a:ext cx="1279200" cy="812700"/>
          </a:xfrm>
          <a:prstGeom prst="rect">
            <a:avLst/>
          </a:prstGeom>
          <a:solidFill>
            <a:srgbClr val="4960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9"/>
          <p:cNvSpPr/>
          <p:nvPr/>
        </p:nvSpPr>
        <p:spPr>
          <a:xfrm>
            <a:off x="9418600" y="4374391"/>
            <a:ext cx="73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400"/>
              <a:buFont typeface="Cabin SemiBold"/>
              <a:buNone/>
            </a:pPr>
            <a:r>
              <a:rPr b="0" i="0" lang="en-US" sz="2400" u="none" cap="none" strike="noStrike">
                <a:solidFill>
                  <a:srgbClr val="CAD6DE"/>
                </a:solidFill>
                <a:latin typeface="Cabin SemiBold"/>
                <a:ea typeface="Cabin SemiBold"/>
                <a:cs typeface="Cabin SemiBold"/>
                <a:sym typeface="Cabin SemiBold"/>
              </a:rPr>
              <a:t>4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8973020" y="5015741"/>
            <a:ext cx="10758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bin SemiBold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bin SemiBold"/>
                <a:ea typeface="Cabin SemiBold"/>
                <a:cs typeface="Cabin SemiBold"/>
                <a:sym typeface="Cabin SemiBold"/>
              </a:rPr>
              <a:t>Numerical Features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10163119" y="4132991"/>
            <a:ext cx="1253700" cy="787500"/>
          </a:xfrm>
          <a:prstGeom prst="rect">
            <a:avLst/>
          </a:prstGeom>
          <a:solidFill>
            <a:srgbClr val="3047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9"/>
          <p:cNvSpPr/>
          <p:nvPr/>
        </p:nvSpPr>
        <p:spPr>
          <a:xfrm>
            <a:off x="10150519" y="4120391"/>
            <a:ext cx="1279200" cy="812700"/>
          </a:xfrm>
          <a:prstGeom prst="rect">
            <a:avLst/>
          </a:prstGeom>
          <a:solidFill>
            <a:srgbClr val="4960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9"/>
          <p:cNvSpPr/>
          <p:nvPr/>
        </p:nvSpPr>
        <p:spPr>
          <a:xfrm>
            <a:off x="10708015" y="4374391"/>
            <a:ext cx="721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400"/>
              <a:buFont typeface="Cabin SemiBold"/>
              <a:buNone/>
            </a:pPr>
            <a:r>
              <a:rPr b="0" i="0" lang="en-US" sz="2400" u="none" cap="none" strike="noStrike">
                <a:solidFill>
                  <a:srgbClr val="CAD6DE"/>
                </a:solidFill>
                <a:latin typeface="Cabin SemiBold"/>
                <a:ea typeface="Cabin SemiBold"/>
                <a:cs typeface="Cabin SemiBold"/>
                <a:sym typeface="Cabin SemiBold"/>
              </a:rPr>
              <a:t>5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10252116" y="5015741"/>
            <a:ext cx="10761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bin SemiBold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bin SemiBold"/>
                <a:ea typeface="Cabin SemiBold"/>
                <a:cs typeface="Cabin SemiBold"/>
                <a:sym typeface="Cabin SemiBold"/>
              </a:rPr>
              <a:t>Training Dataset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"/>
          <p:cNvSpPr/>
          <p:nvPr/>
        </p:nvSpPr>
        <p:spPr>
          <a:xfrm>
            <a:off x="533387" y="254000"/>
            <a:ext cx="11658308" cy="174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3D4C3"/>
              </a:buClr>
              <a:buSzPts val="1100"/>
              <a:buFont typeface="Cabin SemiBold"/>
              <a:buNone/>
            </a:pPr>
            <a:r>
              <a:rPr b="0" i="0" lang="en-US" sz="1100" u="none" cap="none" strike="noStrike">
                <a:solidFill>
                  <a:srgbClr val="43D4C3"/>
                </a:solidFill>
                <a:latin typeface="Cabin SemiBold"/>
                <a:ea typeface="Cabin SemiBold"/>
                <a:cs typeface="Cabin SemiBold"/>
                <a:sym typeface="Cabin SemiBold"/>
              </a:rPr>
              <a:t>06 · AI TRAINING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0"/>
          <p:cNvSpPr/>
          <p:nvPr/>
        </p:nvSpPr>
        <p:spPr>
          <a:xfrm>
            <a:off x="533387" y="511175"/>
            <a:ext cx="11124922" cy="8776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Unbounded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We trained a classifier to distinguish the two commands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0"/>
          <p:cNvSpPr/>
          <p:nvPr/>
        </p:nvSpPr>
        <p:spPr>
          <a:xfrm>
            <a:off x="533387" y="1592064"/>
            <a:ext cx="11658308" cy="284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600"/>
              <a:buFont typeface="Cabin"/>
              <a:buNone/>
            </a:pPr>
            <a:r>
              <a:rPr b="0" i="0" lang="en-US" sz="16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We used the prepared voice dataset to train a machine-learning model for LIGHT ON and LIGHT OFF.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0"/>
          <p:cNvSpPr/>
          <p:nvPr/>
        </p:nvSpPr>
        <p:spPr>
          <a:xfrm>
            <a:off x="533387" y="2060674"/>
            <a:ext cx="11658308" cy="284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600"/>
              <a:buFont typeface="Cabin"/>
              <a:buNone/>
            </a:pPr>
            <a:r>
              <a:rPr b="0" i="0" lang="en-US" sz="16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The model learned patterns from audio features and was saved for prediction.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"/>
          <p:cNvSpPr/>
          <p:nvPr/>
        </p:nvSpPr>
        <p:spPr>
          <a:xfrm>
            <a:off x="533350" y="2572287"/>
            <a:ext cx="2552700" cy="2101500"/>
          </a:xfrm>
          <a:prstGeom prst="rect">
            <a:avLst/>
          </a:prstGeom>
          <a:solidFill>
            <a:srgbClr val="1637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0"/>
          <p:cNvSpPr/>
          <p:nvPr/>
        </p:nvSpPr>
        <p:spPr>
          <a:xfrm>
            <a:off x="761956" y="2646495"/>
            <a:ext cx="8244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600"/>
              <a:buFont typeface="Cabin SemiBold"/>
              <a:buNone/>
            </a:pPr>
            <a:r>
              <a:rPr b="0" i="0" lang="en-US" sz="1600" u="none" cap="none" strike="noStrike">
                <a:solidFill>
                  <a:srgbClr val="CAD6DE"/>
                </a:solidFill>
                <a:latin typeface="Cabin SemiBold"/>
                <a:ea typeface="Cabin SemiBold"/>
                <a:cs typeface="Cabin SemiBold"/>
                <a:sym typeface="Cabin SemiBold"/>
              </a:rPr>
              <a:t>01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/>
          <p:nvPr/>
        </p:nvSpPr>
        <p:spPr>
          <a:xfrm>
            <a:off x="533362" y="2930955"/>
            <a:ext cx="2552700" cy="19200"/>
          </a:xfrm>
          <a:prstGeom prst="rect">
            <a:avLst/>
          </a:prstGeom>
          <a:solidFill>
            <a:srgbClr val="0A98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0"/>
          <p:cNvSpPr/>
          <p:nvPr/>
        </p:nvSpPr>
        <p:spPr>
          <a:xfrm>
            <a:off x="761956" y="3071846"/>
            <a:ext cx="20955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400"/>
              <a:buFont typeface="Cabin SemiBold"/>
              <a:buNone/>
            </a:pPr>
            <a:r>
              <a:rPr b="0" i="0" lang="en-US" sz="2400" u="none" cap="none" strike="noStrike">
                <a:solidFill>
                  <a:srgbClr val="CAD6DE"/>
                </a:solidFill>
                <a:latin typeface="Cabin SemiBold"/>
                <a:ea typeface="Cabin SemiBold"/>
                <a:cs typeface="Cabin SemiBold"/>
                <a:sym typeface="Cabin SemiBold"/>
              </a:rPr>
              <a:t>Audio Dataset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0"/>
          <p:cNvSpPr/>
          <p:nvPr/>
        </p:nvSpPr>
        <p:spPr>
          <a:xfrm>
            <a:off x="761956" y="3595820"/>
            <a:ext cx="2095500" cy="5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600"/>
              <a:buFont typeface="Cabin"/>
              <a:buNone/>
            </a:pPr>
            <a:r>
              <a:rPr b="0" i="0" lang="en-US" sz="16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Prepared Light On and Light Off samples.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3390782" y="2572287"/>
            <a:ext cx="2552700" cy="2101500"/>
          </a:xfrm>
          <a:prstGeom prst="rect">
            <a:avLst/>
          </a:prstGeom>
          <a:solidFill>
            <a:srgbClr val="1637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0"/>
          <p:cNvSpPr/>
          <p:nvPr/>
        </p:nvSpPr>
        <p:spPr>
          <a:xfrm>
            <a:off x="3619384" y="2646495"/>
            <a:ext cx="8595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600"/>
              <a:buFont typeface="Cabin SemiBold"/>
              <a:buNone/>
            </a:pPr>
            <a:r>
              <a:rPr b="0" i="0" lang="en-US" sz="1600" u="none" cap="none" strike="noStrike">
                <a:solidFill>
                  <a:srgbClr val="CAD6DE"/>
                </a:solidFill>
                <a:latin typeface="Cabin SemiBold"/>
                <a:ea typeface="Cabin SemiBold"/>
                <a:cs typeface="Cabin SemiBold"/>
                <a:sym typeface="Cabin SemiBold"/>
              </a:rPr>
              <a:t>02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3390790" y="2930955"/>
            <a:ext cx="2552700" cy="19200"/>
          </a:xfrm>
          <a:prstGeom prst="rect">
            <a:avLst/>
          </a:prstGeom>
          <a:solidFill>
            <a:srgbClr val="0A98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0"/>
          <p:cNvSpPr/>
          <p:nvPr/>
        </p:nvSpPr>
        <p:spPr>
          <a:xfrm>
            <a:off x="3619384" y="3071846"/>
            <a:ext cx="20955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400"/>
              <a:buFont typeface="Cabin SemiBold"/>
              <a:buNone/>
            </a:pPr>
            <a:r>
              <a:rPr b="0" i="0" lang="en-US" sz="2400" u="none" cap="none" strike="noStrike">
                <a:solidFill>
                  <a:srgbClr val="CAD6DE"/>
                </a:solidFill>
                <a:latin typeface="Cabin SemiBold"/>
                <a:ea typeface="Cabin SemiBold"/>
                <a:cs typeface="Cabin SemiBold"/>
                <a:sym typeface="Cabin SemiBold"/>
              </a:rPr>
              <a:t>Feature Extraction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3619384" y="3973745"/>
            <a:ext cx="2095500" cy="5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600"/>
              <a:buFont typeface="Cabin"/>
              <a:buNone/>
            </a:pPr>
            <a:r>
              <a:rPr b="0" i="0" lang="en-US" sz="16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Audio became numerical features.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6248215" y="2572287"/>
            <a:ext cx="2552700" cy="2101500"/>
          </a:xfrm>
          <a:prstGeom prst="rect">
            <a:avLst/>
          </a:prstGeom>
          <a:solidFill>
            <a:srgbClr val="1637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0"/>
          <p:cNvSpPr/>
          <p:nvPr/>
        </p:nvSpPr>
        <p:spPr>
          <a:xfrm>
            <a:off x="6476813" y="2646495"/>
            <a:ext cx="8622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600"/>
              <a:buFont typeface="Cabin SemiBold"/>
              <a:buNone/>
            </a:pPr>
            <a:r>
              <a:rPr b="0" i="0" lang="en-US" sz="1600" u="none" cap="none" strike="noStrike">
                <a:solidFill>
                  <a:srgbClr val="CAD6DE"/>
                </a:solidFill>
                <a:latin typeface="Cabin SemiBold"/>
                <a:ea typeface="Cabin SemiBold"/>
                <a:cs typeface="Cabin SemiBold"/>
                <a:sym typeface="Cabin SemiBold"/>
              </a:rPr>
              <a:t>03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6248219" y="2930955"/>
            <a:ext cx="2552700" cy="19200"/>
          </a:xfrm>
          <a:prstGeom prst="rect">
            <a:avLst/>
          </a:prstGeom>
          <a:solidFill>
            <a:srgbClr val="0A98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0"/>
          <p:cNvSpPr/>
          <p:nvPr/>
        </p:nvSpPr>
        <p:spPr>
          <a:xfrm>
            <a:off x="6476813" y="3071846"/>
            <a:ext cx="2095500" cy="3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400"/>
              <a:buFont typeface="Cabin SemiBold"/>
              <a:buNone/>
            </a:pPr>
            <a:r>
              <a:rPr b="0" i="0" lang="en-US" sz="2400" u="none" cap="none" strike="noStrike">
                <a:solidFill>
                  <a:srgbClr val="CAD6DE"/>
                </a:solidFill>
                <a:latin typeface="Cabin SemiBold"/>
                <a:ea typeface="Cabin SemiBold"/>
                <a:cs typeface="Cabin SemiBold"/>
                <a:sym typeface="Cabin SemiBold"/>
              </a:rPr>
              <a:t>Training Data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6476813" y="3595820"/>
            <a:ext cx="2095500" cy="5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600"/>
              <a:buFont typeface="Cabin"/>
              <a:buNone/>
            </a:pPr>
            <a:r>
              <a:rPr b="0" i="0" lang="en-US" sz="16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Features were organized for learning.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9105647" y="2572287"/>
            <a:ext cx="2552700" cy="2101500"/>
          </a:xfrm>
          <a:prstGeom prst="rect">
            <a:avLst/>
          </a:prstGeom>
          <a:solidFill>
            <a:srgbClr val="0B3A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0"/>
          <p:cNvSpPr/>
          <p:nvPr/>
        </p:nvSpPr>
        <p:spPr>
          <a:xfrm>
            <a:off x="9334241" y="2646495"/>
            <a:ext cx="8754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bin SemiBold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bin SemiBold"/>
                <a:ea typeface="Cabin SemiBold"/>
                <a:cs typeface="Cabin SemiBold"/>
                <a:sym typeface="Cabin SemiBold"/>
              </a:rPr>
              <a:t>04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0"/>
          <p:cNvSpPr/>
          <p:nvPr/>
        </p:nvSpPr>
        <p:spPr>
          <a:xfrm>
            <a:off x="9105647" y="2930955"/>
            <a:ext cx="2552700" cy="19200"/>
          </a:xfrm>
          <a:prstGeom prst="rect">
            <a:avLst/>
          </a:prstGeom>
          <a:solidFill>
            <a:srgbClr val="0A988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0"/>
          <p:cNvSpPr/>
          <p:nvPr/>
        </p:nvSpPr>
        <p:spPr>
          <a:xfrm>
            <a:off x="9334241" y="3071846"/>
            <a:ext cx="20955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bin SemiBold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bin SemiBold"/>
                <a:ea typeface="Cabin SemiBold"/>
                <a:cs typeface="Cabin SemiBold"/>
                <a:sym typeface="Cabin SemiBold"/>
              </a:rPr>
              <a:t>AI Classification Model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9334241" y="3973745"/>
            <a:ext cx="2095500" cy="5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bin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Training produced a saved trained model.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7" name="Google Shape;197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373" y="5022869"/>
            <a:ext cx="3098726" cy="16415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8564" y="5022875"/>
            <a:ext cx="2914534" cy="1641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688450" y="4951825"/>
            <a:ext cx="2969900" cy="171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"/>
          <p:cNvSpPr/>
          <p:nvPr/>
        </p:nvSpPr>
        <p:spPr>
          <a:xfrm>
            <a:off x="533387" y="492224"/>
            <a:ext cx="11658308" cy="174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3D4C3"/>
              </a:buClr>
              <a:buSzPts val="1100"/>
              <a:buFont typeface="Cabin SemiBold"/>
              <a:buNone/>
            </a:pPr>
            <a:r>
              <a:rPr b="0" i="0" lang="en-US" sz="1100" u="none" cap="none" strike="noStrike">
                <a:solidFill>
                  <a:srgbClr val="43D4C3"/>
                </a:solidFill>
                <a:latin typeface="Cabin SemiBold"/>
                <a:ea typeface="Cabin SemiBold"/>
                <a:cs typeface="Cabin SemiBold"/>
                <a:sym typeface="Cabin SemiBold"/>
              </a:rPr>
              <a:t>07 · MODEL TESTING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1"/>
          <p:cNvSpPr/>
          <p:nvPr/>
        </p:nvSpPr>
        <p:spPr>
          <a:xfrm>
            <a:off x="533387" y="749399"/>
            <a:ext cx="11124922" cy="8776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Unbounded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We tested the model before connecting the hardware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1"/>
          <p:cNvSpPr/>
          <p:nvPr/>
        </p:nvSpPr>
        <p:spPr>
          <a:xfrm>
            <a:off x="533387" y="1830288"/>
            <a:ext cx="11658308" cy="284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600"/>
              <a:buFont typeface="Cabin"/>
              <a:buNone/>
            </a:pPr>
            <a:r>
              <a:rPr b="0" i="0" lang="en-US" sz="16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We checked whether the model identified the intended command before physical integration.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1"/>
          <p:cNvSpPr/>
          <p:nvPr/>
        </p:nvSpPr>
        <p:spPr>
          <a:xfrm>
            <a:off x="533387" y="2581573"/>
            <a:ext cx="4869038" cy="2359720"/>
          </a:xfrm>
          <a:prstGeom prst="rect">
            <a:avLst/>
          </a:prstGeom>
          <a:solidFill>
            <a:srgbClr val="1637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1"/>
          <p:cNvSpPr/>
          <p:nvPr/>
        </p:nvSpPr>
        <p:spPr>
          <a:xfrm>
            <a:off x="838179" y="2886373"/>
            <a:ext cx="4564246" cy="284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600"/>
              <a:buFont typeface="Cabin"/>
              <a:buNone/>
            </a:pPr>
            <a:r>
              <a:rPr b="0" i="0" lang="en-US" sz="16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INPUT “LIGHT ON”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1"/>
          <p:cNvSpPr/>
          <p:nvPr/>
        </p:nvSpPr>
        <p:spPr>
          <a:xfrm>
            <a:off x="838179" y="3354983"/>
            <a:ext cx="4259454" cy="673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3D4C3"/>
              </a:buClr>
              <a:buSzPts val="5200"/>
              <a:buFont typeface="Unbounded"/>
              <a:buNone/>
            </a:pPr>
            <a:r>
              <a:rPr b="0" i="0" lang="en-US" sz="5200" u="none" cap="none" strike="noStrike">
                <a:solidFill>
                  <a:srgbClr val="43D4C3"/>
                </a:solidFill>
                <a:latin typeface="Unbounded"/>
                <a:ea typeface="Unbounded"/>
                <a:cs typeface="Unbounded"/>
                <a:sym typeface="Unbounded"/>
              </a:rPr>
              <a:t>→ ON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1"/>
          <p:cNvSpPr/>
          <p:nvPr/>
        </p:nvSpPr>
        <p:spPr>
          <a:xfrm>
            <a:off x="838179" y="4231779"/>
            <a:ext cx="4564246" cy="284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600"/>
              <a:buFont typeface="Cabin"/>
              <a:buNone/>
            </a:pPr>
            <a:r>
              <a:rPr b="0" i="0" lang="en-US" sz="16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Model identifies the intended command.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1"/>
          <p:cNvSpPr/>
          <p:nvPr/>
        </p:nvSpPr>
        <p:spPr>
          <a:xfrm>
            <a:off x="5707118" y="2581573"/>
            <a:ext cx="5951190" cy="2359720"/>
          </a:xfrm>
          <a:prstGeom prst="rect">
            <a:avLst/>
          </a:prstGeom>
          <a:solidFill>
            <a:srgbClr val="1637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1"/>
          <p:cNvSpPr/>
          <p:nvPr/>
        </p:nvSpPr>
        <p:spPr>
          <a:xfrm>
            <a:off x="6011911" y="2886373"/>
            <a:ext cx="5646398" cy="284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600"/>
              <a:buFont typeface="Cabin"/>
              <a:buNone/>
            </a:pPr>
            <a:r>
              <a:rPr b="0" i="0" lang="en-US" sz="16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INPUT “LIGHT OFF”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1"/>
          <p:cNvSpPr/>
          <p:nvPr/>
        </p:nvSpPr>
        <p:spPr>
          <a:xfrm>
            <a:off x="6011911" y="3354983"/>
            <a:ext cx="5341605" cy="673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3D4C3"/>
              </a:buClr>
              <a:buSzPts val="5200"/>
              <a:buFont typeface="Unbounded"/>
              <a:buNone/>
            </a:pPr>
            <a:r>
              <a:rPr b="0" i="0" lang="en-US" sz="5200" u="none" cap="none" strike="noStrike">
                <a:solidFill>
                  <a:srgbClr val="43D4C3"/>
                </a:solidFill>
                <a:latin typeface="Unbounded"/>
                <a:ea typeface="Unbounded"/>
                <a:cs typeface="Unbounded"/>
                <a:sym typeface="Unbounded"/>
              </a:rPr>
              <a:t>→ OFF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1"/>
          <p:cNvSpPr/>
          <p:nvPr/>
        </p:nvSpPr>
        <p:spPr>
          <a:xfrm>
            <a:off x="6011911" y="4231779"/>
            <a:ext cx="5646398" cy="284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600"/>
              <a:buFont typeface="Cabin"/>
              <a:buNone/>
            </a:pPr>
            <a:r>
              <a:rPr b="0" i="0" lang="en-US" sz="16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Model identifies the intended command.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2"/>
          <p:cNvSpPr/>
          <p:nvPr/>
        </p:nvSpPr>
        <p:spPr>
          <a:xfrm>
            <a:off x="533387" y="355600"/>
            <a:ext cx="11658308" cy="174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3D4C3"/>
              </a:buClr>
              <a:buSzPts val="1100"/>
              <a:buFont typeface="Cabin SemiBold"/>
              <a:buNone/>
            </a:pPr>
            <a:r>
              <a:rPr b="0" i="0" lang="en-US" sz="1100" u="none" cap="none" strike="noStrike">
                <a:solidFill>
                  <a:srgbClr val="43D4C3"/>
                </a:solidFill>
                <a:latin typeface="Cabin SemiBold"/>
                <a:ea typeface="Cabin SemiBold"/>
                <a:cs typeface="Cabin SemiBold"/>
                <a:sym typeface="Cabin SemiBold"/>
              </a:rPr>
              <a:t>08 · INTEGRATION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2"/>
          <p:cNvSpPr/>
          <p:nvPr/>
        </p:nvSpPr>
        <p:spPr>
          <a:xfrm>
            <a:off x="533387" y="612775"/>
            <a:ext cx="11124922" cy="8776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Unbounded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We connected the AI prediction to the Pico through serial communication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2"/>
          <p:cNvSpPr/>
          <p:nvPr/>
        </p:nvSpPr>
        <p:spPr>
          <a:xfrm>
            <a:off x="533387" y="1693664"/>
            <a:ext cx="11658308" cy="284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600"/>
              <a:buFont typeface="Cabin"/>
              <a:buNone/>
            </a:pPr>
            <a:r>
              <a:rPr b="0" i="0" lang="en-US" sz="16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The prediction became a simple ON or OFF message through USB serial communication.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2"/>
          <p:cNvSpPr/>
          <p:nvPr/>
        </p:nvSpPr>
        <p:spPr>
          <a:xfrm>
            <a:off x="533387" y="2292350"/>
            <a:ext cx="1854154" cy="19050"/>
          </a:xfrm>
          <a:prstGeom prst="rect">
            <a:avLst/>
          </a:prstGeom>
          <a:solidFill>
            <a:srgbClr val="43D4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2"/>
          <p:cNvSpPr/>
          <p:nvPr/>
        </p:nvSpPr>
        <p:spPr>
          <a:xfrm>
            <a:off x="660383" y="2438400"/>
            <a:ext cx="1727157" cy="174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3D4C3"/>
              </a:buClr>
              <a:buSzPts val="1100"/>
              <a:buFont typeface="Cabin SemiBold"/>
              <a:buNone/>
            </a:pPr>
            <a:r>
              <a:rPr b="0" i="0" lang="en-US" sz="1100" u="none" cap="none" strike="noStrike">
                <a:solidFill>
                  <a:srgbClr val="43D4C3"/>
                </a:solidFill>
                <a:latin typeface="Cabin SemiBold"/>
                <a:ea typeface="Cabin SemiBold"/>
                <a:cs typeface="Cabin SemiBold"/>
                <a:sym typeface="Cabin SemiBold"/>
              </a:rPr>
              <a:t>SOURCE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2"/>
          <p:cNvSpPr/>
          <p:nvPr/>
        </p:nvSpPr>
        <p:spPr>
          <a:xfrm>
            <a:off x="660383" y="2695575"/>
            <a:ext cx="1600160" cy="2833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bin SemiBold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bin SemiBold"/>
                <a:ea typeface="Cabin SemiBold"/>
                <a:cs typeface="Cabin SemiBold"/>
                <a:sym typeface="Cabin SemiBold"/>
              </a:rPr>
              <a:t>My Voice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2"/>
          <p:cNvSpPr/>
          <p:nvPr/>
        </p:nvSpPr>
        <p:spPr>
          <a:xfrm>
            <a:off x="2387540" y="2292350"/>
            <a:ext cx="1854154" cy="19050"/>
          </a:xfrm>
          <a:prstGeom prst="rect">
            <a:avLst/>
          </a:prstGeom>
          <a:solidFill>
            <a:srgbClr val="43D4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2"/>
          <p:cNvSpPr/>
          <p:nvPr/>
        </p:nvSpPr>
        <p:spPr>
          <a:xfrm>
            <a:off x="2514537" y="2438400"/>
            <a:ext cx="1727157" cy="174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3D4C3"/>
              </a:buClr>
              <a:buSzPts val="1100"/>
              <a:buFont typeface="Cabin SemiBold"/>
              <a:buNone/>
            </a:pPr>
            <a:r>
              <a:rPr b="0" i="0" lang="en-US" sz="1100" u="none" cap="none" strike="noStrike">
                <a:solidFill>
                  <a:srgbClr val="43D4C3"/>
                </a:solidFill>
                <a:latin typeface="Cabin SemiBold"/>
                <a:ea typeface="Cabin SemiBold"/>
                <a:cs typeface="Cabin SemiBold"/>
                <a:sym typeface="Cabin SemiBold"/>
              </a:rPr>
              <a:t>INPUT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2"/>
          <p:cNvSpPr/>
          <p:nvPr/>
        </p:nvSpPr>
        <p:spPr>
          <a:xfrm>
            <a:off x="2514537" y="2695575"/>
            <a:ext cx="1600160" cy="566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bin SemiBold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bin SemiBold"/>
                <a:ea typeface="Cabin SemiBold"/>
                <a:cs typeface="Cabin SemiBold"/>
                <a:sym typeface="Cabin SemiBold"/>
              </a:rPr>
              <a:t>Microphone / Audio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2"/>
          <p:cNvSpPr/>
          <p:nvPr/>
        </p:nvSpPr>
        <p:spPr>
          <a:xfrm>
            <a:off x="4241694" y="2292350"/>
            <a:ext cx="2224925" cy="19050"/>
          </a:xfrm>
          <a:prstGeom prst="rect">
            <a:avLst/>
          </a:prstGeom>
          <a:solidFill>
            <a:srgbClr val="43D4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2"/>
          <p:cNvSpPr/>
          <p:nvPr/>
        </p:nvSpPr>
        <p:spPr>
          <a:xfrm>
            <a:off x="4368691" y="2438400"/>
            <a:ext cx="2097928" cy="174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3D4C3"/>
              </a:buClr>
              <a:buSzPts val="1100"/>
              <a:buFont typeface="Cabin SemiBold"/>
              <a:buNone/>
            </a:pPr>
            <a:r>
              <a:rPr b="0" i="0" lang="en-US" sz="1100" u="none" cap="none" strike="noStrike">
                <a:solidFill>
                  <a:srgbClr val="43D4C3"/>
                </a:solidFill>
                <a:latin typeface="Cabin SemiBold"/>
                <a:ea typeface="Cabin SemiBold"/>
                <a:cs typeface="Cabin SemiBold"/>
                <a:sym typeface="Cabin SemiBold"/>
              </a:rPr>
              <a:t>MODEL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2"/>
          <p:cNvSpPr/>
          <p:nvPr/>
        </p:nvSpPr>
        <p:spPr>
          <a:xfrm>
            <a:off x="4368691" y="2695575"/>
            <a:ext cx="1970931" cy="2833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bin SemiBold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bin SemiBold"/>
                <a:ea typeface="Cabin SemiBold"/>
                <a:cs typeface="Cabin SemiBold"/>
                <a:sym typeface="Cabin SemiBold"/>
              </a:rPr>
              <a:t>Trained 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2"/>
          <p:cNvSpPr/>
          <p:nvPr/>
        </p:nvSpPr>
        <p:spPr>
          <a:xfrm>
            <a:off x="6466619" y="2292350"/>
            <a:ext cx="1854154" cy="19050"/>
          </a:xfrm>
          <a:prstGeom prst="rect">
            <a:avLst/>
          </a:prstGeom>
          <a:solidFill>
            <a:srgbClr val="43D4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2"/>
          <p:cNvSpPr/>
          <p:nvPr/>
        </p:nvSpPr>
        <p:spPr>
          <a:xfrm>
            <a:off x="6593616" y="2438400"/>
            <a:ext cx="1727157" cy="174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3D4C3"/>
              </a:buClr>
              <a:buSzPts val="1100"/>
              <a:buFont typeface="Cabin SemiBold"/>
              <a:buNone/>
            </a:pPr>
            <a:r>
              <a:rPr b="0" i="0" lang="en-US" sz="1100" u="none" cap="none" strike="noStrike">
                <a:solidFill>
                  <a:srgbClr val="43D4C3"/>
                </a:solidFill>
                <a:latin typeface="Cabin SemiBold"/>
                <a:ea typeface="Cabin SemiBold"/>
                <a:cs typeface="Cabin SemiBold"/>
                <a:sym typeface="Cabin SemiBold"/>
              </a:rPr>
              <a:t>PREDICTION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2"/>
          <p:cNvSpPr/>
          <p:nvPr/>
        </p:nvSpPr>
        <p:spPr>
          <a:xfrm>
            <a:off x="6593616" y="2695575"/>
            <a:ext cx="1600160" cy="2833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bin SemiBold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bin SemiBold"/>
                <a:ea typeface="Cabin SemiBold"/>
                <a:cs typeface="Cabin SemiBold"/>
                <a:sym typeface="Cabin SemiBold"/>
              </a:rPr>
              <a:t>ON / OFF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2"/>
          <p:cNvSpPr/>
          <p:nvPr/>
        </p:nvSpPr>
        <p:spPr>
          <a:xfrm>
            <a:off x="8320772" y="2292350"/>
            <a:ext cx="1854154" cy="19050"/>
          </a:xfrm>
          <a:prstGeom prst="rect">
            <a:avLst/>
          </a:prstGeom>
          <a:solidFill>
            <a:srgbClr val="43D4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2"/>
          <p:cNvSpPr/>
          <p:nvPr/>
        </p:nvSpPr>
        <p:spPr>
          <a:xfrm>
            <a:off x="8447769" y="2438400"/>
            <a:ext cx="1727157" cy="174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3D4C3"/>
              </a:buClr>
              <a:buSzPts val="1100"/>
              <a:buFont typeface="Cabin SemiBold"/>
              <a:buNone/>
            </a:pPr>
            <a:r>
              <a:rPr b="0" i="0" lang="en-US" sz="1100" u="none" cap="none" strike="noStrike">
                <a:solidFill>
                  <a:srgbClr val="43D4C3"/>
                </a:solidFill>
                <a:latin typeface="Cabin SemiBold"/>
                <a:ea typeface="Cabin SemiBold"/>
                <a:cs typeface="Cabin SemiBold"/>
                <a:sym typeface="Cabin SemiBold"/>
              </a:rPr>
              <a:t>SERIAL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2"/>
          <p:cNvSpPr/>
          <p:nvPr/>
        </p:nvSpPr>
        <p:spPr>
          <a:xfrm>
            <a:off x="8447769" y="2695575"/>
            <a:ext cx="1600160" cy="2833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bin SemiBold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bin SemiBold"/>
                <a:ea typeface="Cabin SemiBold"/>
                <a:cs typeface="Cabin SemiBold"/>
                <a:sym typeface="Cabin SemiBold"/>
              </a:rPr>
              <a:t>USB → Pico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2"/>
          <p:cNvSpPr/>
          <p:nvPr/>
        </p:nvSpPr>
        <p:spPr>
          <a:xfrm>
            <a:off x="10174926" y="2292350"/>
            <a:ext cx="1483382" cy="19050"/>
          </a:xfrm>
          <a:prstGeom prst="rect">
            <a:avLst/>
          </a:prstGeom>
          <a:solidFill>
            <a:srgbClr val="C6F0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2"/>
          <p:cNvSpPr/>
          <p:nvPr/>
        </p:nvSpPr>
        <p:spPr>
          <a:xfrm>
            <a:off x="10301923" y="2438400"/>
            <a:ext cx="1356386" cy="174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3D4C3"/>
              </a:buClr>
              <a:buSzPts val="1100"/>
              <a:buFont typeface="Cabin SemiBold"/>
              <a:buNone/>
            </a:pPr>
            <a:r>
              <a:rPr b="0" i="0" lang="en-US" sz="1100" u="none" cap="none" strike="noStrike">
                <a:solidFill>
                  <a:srgbClr val="43D4C3"/>
                </a:solidFill>
                <a:latin typeface="Cabin SemiBold"/>
                <a:ea typeface="Cabin SemiBold"/>
                <a:cs typeface="Cabin SemiBold"/>
                <a:sym typeface="Cabin SemiBold"/>
              </a:rPr>
              <a:t>OUTPUT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2"/>
          <p:cNvSpPr/>
          <p:nvPr/>
        </p:nvSpPr>
        <p:spPr>
          <a:xfrm>
            <a:off x="10301923" y="2695575"/>
            <a:ext cx="1229389" cy="8501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bin SemiBold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bin SemiBold"/>
                <a:ea typeface="Cabin SemiBold"/>
                <a:cs typeface="Cabin SemiBold"/>
                <a:sym typeface="Cabin SemiBold"/>
              </a:rPr>
              <a:t>GPIO → Relay → LED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2"/>
          <p:cNvSpPr/>
          <p:nvPr/>
        </p:nvSpPr>
        <p:spPr>
          <a:xfrm>
            <a:off x="533387" y="3856831"/>
            <a:ext cx="5410065" cy="1846759"/>
          </a:xfrm>
          <a:prstGeom prst="rect">
            <a:avLst/>
          </a:prstGeom>
          <a:solidFill>
            <a:srgbClr val="16374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2"/>
          <p:cNvSpPr/>
          <p:nvPr/>
        </p:nvSpPr>
        <p:spPr>
          <a:xfrm>
            <a:off x="761981" y="4085431"/>
            <a:ext cx="5181470" cy="284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600"/>
              <a:buFont typeface="Cabin"/>
              <a:buNone/>
            </a:pPr>
            <a:r>
              <a:rPr b="0" i="0" lang="en-US" sz="16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IF MODEL PREDICTS 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2"/>
          <p:cNvSpPr/>
          <p:nvPr/>
        </p:nvSpPr>
        <p:spPr>
          <a:xfrm>
            <a:off x="761981" y="4719141"/>
            <a:ext cx="4952876" cy="755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2400"/>
              <a:buFont typeface="Cabin SemiBold"/>
              <a:buNone/>
            </a:pPr>
            <a:r>
              <a:rPr b="0" i="0" lang="en-US" sz="2400" u="none" cap="none" strike="noStrike">
                <a:solidFill>
                  <a:srgbClr val="CAD6DE"/>
                </a:solidFill>
                <a:latin typeface="Cabin SemiBold"/>
                <a:ea typeface="Cabin SemiBold"/>
                <a:cs typeface="Cabin SemiBold"/>
                <a:sym typeface="Cabin SemiBold"/>
              </a:rPr>
              <a:t>AI → “ON” → Pico → Relay ON → LED 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2"/>
          <p:cNvSpPr/>
          <p:nvPr/>
        </p:nvSpPr>
        <p:spPr>
          <a:xfrm>
            <a:off x="6248244" y="3856831"/>
            <a:ext cx="5410065" cy="1846759"/>
          </a:xfrm>
          <a:prstGeom prst="rect">
            <a:avLst/>
          </a:prstGeom>
          <a:solidFill>
            <a:srgbClr val="0B3A4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2"/>
          <p:cNvSpPr/>
          <p:nvPr/>
        </p:nvSpPr>
        <p:spPr>
          <a:xfrm>
            <a:off x="6476838" y="4085431"/>
            <a:ext cx="5181470" cy="284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bin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IF MODEL PREDICTS OFF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2"/>
          <p:cNvSpPr/>
          <p:nvPr/>
        </p:nvSpPr>
        <p:spPr>
          <a:xfrm>
            <a:off x="6476838" y="4719141"/>
            <a:ext cx="4952876" cy="755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bin SemiBold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bin SemiBold"/>
                <a:ea typeface="Cabin SemiBold"/>
                <a:cs typeface="Cabin SemiBold"/>
                <a:sym typeface="Cabin SemiBold"/>
              </a:rPr>
              <a:t>AI → “OFF” → Pico → Relay OFF → LED OFF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3"/>
          <p:cNvSpPr/>
          <p:nvPr/>
        </p:nvSpPr>
        <p:spPr>
          <a:xfrm>
            <a:off x="457189" y="203200"/>
            <a:ext cx="7198239" cy="174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3D4C3"/>
              </a:buClr>
              <a:buSzPts val="1100"/>
              <a:buFont typeface="Cabin SemiBold"/>
              <a:buNone/>
            </a:pPr>
            <a:r>
              <a:rPr b="0" i="0" lang="en-US" sz="1100" u="none" cap="none" strike="noStrike">
                <a:solidFill>
                  <a:srgbClr val="43D4C3"/>
                </a:solidFill>
                <a:latin typeface="Cabin SemiBold"/>
                <a:ea typeface="Cabin SemiBold"/>
                <a:cs typeface="Cabin SemiBold"/>
                <a:sym typeface="Cabin SemiBold"/>
              </a:rPr>
              <a:t>09 · FINAL PROJECT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3"/>
          <p:cNvSpPr/>
          <p:nvPr/>
        </p:nvSpPr>
        <p:spPr>
          <a:xfrm>
            <a:off x="457189" y="460375"/>
            <a:ext cx="7198239" cy="8776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Unbounded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We combined the full chain into a working prototype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3"/>
          <p:cNvSpPr/>
          <p:nvPr/>
        </p:nvSpPr>
        <p:spPr>
          <a:xfrm>
            <a:off x="457189" y="1541264"/>
            <a:ext cx="7198239" cy="284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600"/>
              <a:buFont typeface="Cabin"/>
              <a:buNone/>
            </a:pPr>
            <a:r>
              <a:rPr b="0" i="0" lang="en-US" sz="16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Voice → AI → Hardware Control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3"/>
          <p:cNvSpPr/>
          <p:nvPr/>
        </p:nvSpPr>
        <p:spPr>
          <a:xfrm>
            <a:off x="457189" y="2009874"/>
            <a:ext cx="7198239" cy="568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600"/>
              <a:buFont typeface="Cabin"/>
              <a:buNone/>
            </a:pPr>
            <a:r>
              <a:rPr b="0" i="0" lang="en-US" sz="16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We combined my own voice dataset, a trained AI classifier, Raspberry Pi Pico, relay control, and an LED into one voice-controlled prototype.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3"/>
          <p:cNvSpPr/>
          <p:nvPr/>
        </p:nvSpPr>
        <p:spPr>
          <a:xfrm>
            <a:off x="457189" y="2812157"/>
            <a:ext cx="7198239" cy="31651"/>
          </a:xfrm>
          <a:prstGeom prst="roundRect">
            <a:avLst>
              <a:gd fmla="val 49998" name="adj"/>
            </a:avLst>
          </a:prstGeom>
          <a:solidFill>
            <a:srgbClr val="3151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3"/>
          <p:cNvSpPr/>
          <p:nvPr/>
        </p:nvSpPr>
        <p:spPr>
          <a:xfrm>
            <a:off x="457189" y="3242370"/>
            <a:ext cx="7198239" cy="2833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bin SemiBold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bin SemiBold"/>
                <a:ea typeface="Cabin SemiBold"/>
                <a:cs typeface="Cabin SemiBold"/>
                <a:sym typeface="Cabin SemiBold"/>
              </a:rPr>
              <a:t>What </a:t>
            </a:r>
            <a:r>
              <a:rPr lang="en-US" sz="1800">
                <a:solidFill>
                  <a:srgbClr val="FFFFFF"/>
                </a:solidFill>
                <a:latin typeface="Cabin SemiBold"/>
                <a:ea typeface="Cabin SemiBold"/>
                <a:cs typeface="Cabin SemiBold"/>
                <a:sym typeface="Cabin SemiBold"/>
              </a:rPr>
              <a:t>we</a:t>
            </a:r>
            <a:r>
              <a:rPr b="0" i="0" lang="en-US" sz="1800" u="none" cap="none" strike="noStrike">
                <a:solidFill>
                  <a:srgbClr val="FFFFFF"/>
                </a:solidFill>
                <a:latin typeface="Cabin SemiBold"/>
                <a:ea typeface="Cabin SemiBold"/>
                <a:cs typeface="Cabin SemiBold"/>
                <a:sym typeface="Cabin SemiBold"/>
              </a:rPr>
              <a:t> created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3"/>
          <p:cNvSpPr/>
          <p:nvPr/>
        </p:nvSpPr>
        <p:spPr>
          <a:xfrm>
            <a:off x="457189" y="3671788"/>
            <a:ext cx="7198239" cy="1321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600"/>
              <a:buFont typeface="Cabin"/>
              <a:buNone/>
            </a:pPr>
            <a:r>
              <a:rPr b="0" i="0" lang="en-US" sz="16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Recorded commands · organized and expanded the dataset · prepared audio features · trained and tested the classifier.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7000"/>
              </a:lnSpc>
              <a:spcBef>
                <a:spcPts val="1400"/>
              </a:spcBef>
              <a:spcAft>
                <a:spcPts val="0"/>
              </a:spcAft>
              <a:buClr>
                <a:srgbClr val="CAD6DE"/>
              </a:buClr>
              <a:buSzPts val="1600"/>
              <a:buFont typeface="Cabin"/>
              <a:buNone/>
            </a:pPr>
            <a:r>
              <a:rPr b="0" i="0" lang="en-US" sz="16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Programmed the Pico with MicroPython · assembled the transistor and relay circuit · connected AI output to the Pico through serial communication.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3"/>
          <p:cNvSpPr/>
          <p:nvPr/>
        </p:nvSpPr>
        <p:spPr>
          <a:xfrm>
            <a:off x="457189" y="5177929"/>
            <a:ext cx="7198239" cy="1614091"/>
          </a:xfrm>
          <a:prstGeom prst="roundRect">
            <a:avLst>
              <a:gd fmla="val 708" name="adj"/>
            </a:avLst>
          </a:prstGeom>
          <a:noFill/>
          <a:ln cap="flat" cmpd="sng" w="25375">
            <a:solidFill>
              <a:srgbClr val="4960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3"/>
          <p:cNvSpPr/>
          <p:nvPr/>
        </p:nvSpPr>
        <p:spPr>
          <a:xfrm>
            <a:off x="634984" y="5355729"/>
            <a:ext cx="7020444" cy="284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600"/>
              <a:buFont typeface="Cabin"/>
              <a:buNone/>
            </a:pPr>
            <a:r>
              <a:rPr b="0" i="0" lang="en-US" sz="16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FUTURE WORK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3"/>
          <p:cNvSpPr/>
          <p:nvPr/>
        </p:nvSpPr>
        <p:spPr>
          <a:xfrm>
            <a:off x="634984" y="5760839"/>
            <a:ext cx="6842648" cy="853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CAD6DE"/>
              </a:buClr>
              <a:buSzPts val="1600"/>
              <a:buFont typeface="Cabin"/>
              <a:buNone/>
            </a:pPr>
            <a:r>
              <a:rPr b="0" i="0" lang="en-US" sz="1600" u="none" cap="none" strike="noStrike">
                <a:solidFill>
                  <a:srgbClr val="CAD6DE"/>
                </a:solidFill>
                <a:latin typeface="Cabin"/>
                <a:ea typeface="Cabin"/>
                <a:cs typeface="Cabin"/>
                <a:sym typeface="Cabin"/>
              </a:rPr>
              <a:t>Connect the MAX9814 directly to the Pico, integrate an ESP8266 Wi-Fi module, control multiple lights, add more voice commands, and expand toward an IoT smart-home controller.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3" name="Google Shape;263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60122" y="985850"/>
            <a:ext cx="3876001" cy="5168002"/>
          </a:xfrm>
          <a:prstGeom prst="rect">
            <a:avLst/>
          </a:prstGeom>
          <a:noFill/>
          <a:ln cap="flat" cmpd="sng" w="25375">
            <a:solidFill>
              <a:srgbClr val="49606E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
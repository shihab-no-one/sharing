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6" r:id="rId7"/>
    <p:sldId id="261" r:id="rId8"/>
    <p:sldId id="262" r:id="rId9"/>
    <p:sldId id="263" r:id="rId10"/>
    <p:sldId id="264" r:id="rId11"/>
    <p:sldId id="267" r:id="rId12"/>
    <p:sldId id="268" r:id="rId13"/>
    <p:sldId id="269" r:id="rId14"/>
    <p:sldId id="265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147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C0446-DFC6-470D-93B4-4D5857DB30D1}" type="datetimeFigureOut">
              <a:rPr lang="en-US" smtClean="0"/>
              <a:t>14-Jan-26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6E447-16E0-421A-B51E-DE68573689C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C0446-DFC6-470D-93B4-4D5857DB30D1}" type="datetimeFigureOut">
              <a:rPr lang="en-US" smtClean="0"/>
              <a:t>14-Jan-26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6E447-16E0-421A-B51E-DE68573689C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C0446-DFC6-470D-93B4-4D5857DB30D1}" type="datetimeFigureOut">
              <a:rPr lang="en-US" smtClean="0"/>
              <a:t>14-Jan-26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6E447-16E0-421A-B51E-DE68573689C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C0446-DFC6-470D-93B4-4D5857DB30D1}" type="datetimeFigureOut">
              <a:rPr lang="en-US" smtClean="0"/>
              <a:t>14-Jan-26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6E447-16E0-421A-B51E-DE68573689C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C0446-DFC6-470D-93B4-4D5857DB30D1}" type="datetimeFigureOut">
              <a:rPr lang="en-US" smtClean="0"/>
              <a:t>14-Jan-26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6E447-16E0-421A-B51E-DE68573689C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C0446-DFC6-470D-93B4-4D5857DB30D1}" type="datetimeFigureOut">
              <a:rPr lang="en-US" smtClean="0"/>
              <a:t>14-Jan-26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6E447-16E0-421A-B51E-DE68573689C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C0446-DFC6-470D-93B4-4D5857DB30D1}" type="datetimeFigureOut">
              <a:rPr lang="en-US" smtClean="0"/>
              <a:t>14-Jan-26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6E447-16E0-421A-B51E-DE68573689C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C0446-DFC6-470D-93B4-4D5857DB30D1}" type="datetimeFigureOut">
              <a:rPr lang="en-US" smtClean="0"/>
              <a:t>14-Jan-26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6E447-16E0-421A-B51E-DE68573689C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C0446-DFC6-470D-93B4-4D5857DB30D1}" type="datetimeFigureOut">
              <a:rPr lang="en-US" smtClean="0"/>
              <a:t>14-Jan-26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6E447-16E0-421A-B51E-DE68573689C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C0446-DFC6-470D-93B4-4D5857DB30D1}" type="datetimeFigureOut">
              <a:rPr lang="en-US" smtClean="0"/>
              <a:t>14-Jan-26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6E447-16E0-421A-B51E-DE68573689C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C0446-DFC6-470D-93B4-4D5857DB30D1}" type="datetimeFigureOut">
              <a:rPr lang="en-US" smtClean="0"/>
              <a:t>14-Jan-26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6E447-16E0-421A-B51E-DE68573689C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1C0446-DFC6-470D-93B4-4D5857DB30D1}" type="datetimeFigureOut">
              <a:rPr lang="en-US" smtClean="0"/>
              <a:t>14-Jan-26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16E447-16E0-421A-B51E-DE68573689CA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Simple Network Management Protocol (SNMP)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4079875"/>
            <a:ext cx="6858000" cy="1655762"/>
          </a:xfrm>
        </p:spPr>
        <p:txBody>
          <a:bodyPr/>
          <a:lstStyle/>
          <a:p>
            <a:r>
              <a:rPr lang="en-US" dirty="0" err="1"/>
              <a:t>Shobnom</a:t>
            </a:r>
            <a:r>
              <a:rPr lang="en-US" dirty="0"/>
              <a:t> </a:t>
            </a:r>
            <a:r>
              <a:rPr lang="en-US" dirty="0" err="1"/>
              <a:t>Mushtary</a:t>
            </a:r>
            <a:endParaRPr lang="en-US" dirty="0"/>
          </a:p>
          <a:p>
            <a:r>
              <a:rPr lang="en-US" dirty="0"/>
              <a:t>Lecturer, CSE</a:t>
            </a:r>
          </a:p>
          <a:p>
            <a:r>
              <a:rPr lang="en-US" dirty="0"/>
              <a:t>Dhaka International University (DIU)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36023DC-95DB-4C44-AB82-E38ECC16AD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670" y="970670"/>
            <a:ext cx="8645316" cy="455793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0B791A9-CC41-4285-B703-431344870F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078" y="1585935"/>
            <a:ext cx="6161650" cy="319576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4821B6C-427C-4659-8426-7EBE1903C867}"/>
              </a:ext>
            </a:extLst>
          </p:cNvPr>
          <p:cNvSpPr txBox="1"/>
          <p:nvPr/>
        </p:nvSpPr>
        <p:spPr>
          <a:xfrm>
            <a:off x="928467" y="393894"/>
            <a:ext cx="6724357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If the codes do not work or showing any error, then follow the following steps: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/>
              <a:t>Install SNMP</a:t>
            </a:r>
          </a:p>
          <a:p>
            <a:pPr lvl="1"/>
            <a:r>
              <a:rPr lang="en-US" sz="2000" dirty="0" err="1"/>
              <a:t>sudo</a:t>
            </a:r>
            <a:r>
              <a:rPr lang="en-US" sz="2000" dirty="0"/>
              <a:t> apt update</a:t>
            </a:r>
          </a:p>
          <a:p>
            <a:pPr lvl="1"/>
            <a:r>
              <a:rPr lang="en-US" sz="2000" dirty="0" err="1"/>
              <a:t>sudo</a:t>
            </a:r>
            <a:r>
              <a:rPr lang="en-US" sz="2000" dirty="0"/>
              <a:t> apt install </a:t>
            </a:r>
            <a:r>
              <a:rPr lang="en-US" sz="2000" dirty="0" err="1"/>
              <a:t>snmp</a:t>
            </a:r>
            <a:r>
              <a:rPr lang="en-US" sz="2000" dirty="0"/>
              <a:t> </a:t>
            </a:r>
            <a:r>
              <a:rPr lang="en-US" sz="2000" dirty="0" err="1"/>
              <a:t>snmpd</a:t>
            </a:r>
            <a:endParaRPr lang="en-US" sz="2000" dirty="0"/>
          </a:p>
          <a:p>
            <a:pPr marL="342900" indent="-342900">
              <a:buFont typeface="+mj-lt"/>
              <a:buAutoNum type="arabicPeriod"/>
            </a:pPr>
            <a:r>
              <a:rPr lang="en-US" sz="2000" dirty="0"/>
              <a:t>Check</a:t>
            </a:r>
          </a:p>
          <a:p>
            <a:pPr lvl="1"/>
            <a:r>
              <a:rPr lang="en-US" sz="2000" dirty="0" err="1"/>
              <a:t>snmpd</a:t>
            </a:r>
            <a:r>
              <a:rPr lang="en-US" sz="2000" dirty="0"/>
              <a:t> --version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B6DFD0-7E11-4472-A99E-0233B11EEF24}"/>
              </a:ext>
            </a:extLst>
          </p:cNvPr>
          <p:cNvSpPr txBox="1"/>
          <p:nvPr/>
        </p:nvSpPr>
        <p:spPr>
          <a:xfrm>
            <a:off x="928467" y="2880360"/>
            <a:ext cx="7821637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Now MIB install and setup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 err="1"/>
              <a:t>sudo</a:t>
            </a:r>
            <a:r>
              <a:rPr lang="en-US" sz="2000" dirty="0"/>
              <a:t> nano /</a:t>
            </a:r>
            <a:r>
              <a:rPr lang="en-US" sz="2000" dirty="0" err="1"/>
              <a:t>etc</a:t>
            </a:r>
            <a:r>
              <a:rPr lang="en-US" sz="2000" dirty="0"/>
              <a:t>/</a:t>
            </a:r>
            <a:r>
              <a:rPr lang="en-US" sz="2000" dirty="0" err="1"/>
              <a:t>snmp</a:t>
            </a:r>
            <a:r>
              <a:rPr lang="en-US" sz="2000" dirty="0"/>
              <a:t>/</a:t>
            </a:r>
            <a:r>
              <a:rPr lang="en-US" sz="2000" dirty="0" err="1"/>
              <a:t>snmp.conf</a:t>
            </a:r>
            <a:r>
              <a:rPr lang="en-US" sz="2000" dirty="0"/>
              <a:t>  [a new page will open]</a:t>
            </a:r>
          </a:p>
          <a:p>
            <a:pPr lvl="1"/>
            <a:r>
              <a:rPr lang="en-US" sz="2000" dirty="0"/>
              <a:t>Check if there exist –&gt;</a:t>
            </a:r>
          </a:p>
          <a:p>
            <a:pPr lvl="2"/>
            <a:r>
              <a:rPr lang="en-US" sz="2000" dirty="0"/>
              <a:t>mibs :</a:t>
            </a:r>
          </a:p>
          <a:p>
            <a:pPr lvl="2"/>
            <a:r>
              <a:rPr lang="en-US" sz="2000" dirty="0"/>
              <a:t>Then comment it out using # - &gt;</a:t>
            </a:r>
          </a:p>
          <a:p>
            <a:pPr lvl="3"/>
            <a:r>
              <a:rPr lang="en-US" sz="2000" dirty="0"/>
              <a:t>#mibs :</a:t>
            </a:r>
          </a:p>
          <a:p>
            <a:pPr lvl="2"/>
            <a:r>
              <a:rPr lang="en-US" sz="2000" dirty="0"/>
              <a:t>Then Press CTRL+O (Save) -&gt; ENTER (confirm) -&gt; CTRL+X (exit)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/>
              <a:t>Restart the terminal -&gt; source ~/.</a:t>
            </a:r>
            <a:r>
              <a:rPr lang="en-US" sz="2000" dirty="0" err="1"/>
              <a:t>bashrc</a:t>
            </a:r>
            <a:endParaRPr lang="en-US" sz="2000" dirty="0"/>
          </a:p>
          <a:p>
            <a:pPr marL="342900" indent="-342900">
              <a:buFont typeface="+mj-lt"/>
              <a:buAutoNum type="arabicPeriod"/>
            </a:pPr>
            <a:r>
              <a:rPr lang="en-US" sz="2000" b="1" dirty="0"/>
              <a:t>Test SNMP </a:t>
            </a:r>
          </a:p>
          <a:p>
            <a:pPr lvl="2"/>
            <a:r>
              <a:rPr lang="en-US" sz="2000" b="1" dirty="0" err="1">
                <a:solidFill>
                  <a:srgbClr val="000000"/>
                </a:solidFill>
                <a:effectLst/>
              </a:rPr>
              <a:t>snmpget</a:t>
            </a:r>
            <a:r>
              <a:rPr lang="en-US" sz="2000" b="1" dirty="0">
                <a:solidFill>
                  <a:srgbClr val="000000"/>
                </a:solidFill>
                <a:effectLst/>
              </a:rPr>
              <a:t> -v2c -c public localhost SNMPv2-MIB::sysName.0</a:t>
            </a:r>
            <a:endParaRPr lang="en-US" sz="2000" b="1" dirty="0"/>
          </a:p>
          <a:p>
            <a:pPr lvl="1"/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9164B06-6E2C-4AF0-BE53-0F5BA6D1D60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4354"/>
          <a:stretch/>
        </p:blipFill>
        <p:spPr>
          <a:xfrm>
            <a:off x="507277" y="471452"/>
            <a:ext cx="7370631" cy="291534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50798BC-376C-42A4-85C2-485B969820C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60546"/>
          <a:stretch/>
        </p:blipFill>
        <p:spPr>
          <a:xfrm>
            <a:off x="507277" y="3386798"/>
            <a:ext cx="6751955" cy="103045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EED3B4E-3C57-46BC-AE07-CEA0B9ACA4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086" y="4572001"/>
            <a:ext cx="5292750" cy="1730144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C05E6D08-FAB1-4A4C-BEB3-D9AFE384571C}"/>
              </a:ext>
            </a:extLst>
          </p:cNvPr>
          <p:cNvSpPr/>
          <p:nvPr/>
        </p:nvSpPr>
        <p:spPr>
          <a:xfrm>
            <a:off x="6499274" y="661182"/>
            <a:ext cx="1800665" cy="94253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Device Name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E9774A3-C645-4047-9D77-296C2F8FAD86}"/>
              </a:ext>
            </a:extLst>
          </p:cNvPr>
          <p:cNvSpPr/>
          <p:nvPr/>
        </p:nvSpPr>
        <p:spPr>
          <a:xfrm>
            <a:off x="6639111" y="2001132"/>
            <a:ext cx="1997612" cy="9425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OS + hardware + system info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4D9487B-28D3-49AE-8D89-6BD4CC37AD87}"/>
              </a:ext>
            </a:extLst>
          </p:cNvPr>
          <p:cNvSpPr/>
          <p:nvPr/>
        </p:nvSpPr>
        <p:spPr>
          <a:xfrm>
            <a:off x="6696222" y="3386798"/>
            <a:ext cx="2124221" cy="118520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How long has it been without a system restart?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0CD6E59-E4B2-4E46-95C5-029422BA45D5}"/>
              </a:ext>
            </a:extLst>
          </p:cNvPr>
          <p:cNvCxnSpPr>
            <a:cxnSpLocks/>
          </p:cNvCxnSpPr>
          <p:nvPr/>
        </p:nvCxnSpPr>
        <p:spPr>
          <a:xfrm flipV="1">
            <a:off x="5317588" y="1294228"/>
            <a:ext cx="1181686" cy="7069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3BF8492-4520-4D4C-A057-37A687528449}"/>
              </a:ext>
            </a:extLst>
          </p:cNvPr>
          <p:cNvCxnSpPr>
            <a:cxnSpLocks/>
            <a:endCxn id="13" idx="2"/>
          </p:cNvCxnSpPr>
          <p:nvPr/>
        </p:nvCxnSpPr>
        <p:spPr>
          <a:xfrm flipV="1">
            <a:off x="5484056" y="2472399"/>
            <a:ext cx="1155055" cy="6064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3779170-53FF-45E7-A5F6-03EE177D5667}"/>
              </a:ext>
            </a:extLst>
          </p:cNvPr>
          <p:cNvCxnSpPr>
            <a:cxnSpLocks/>
          </p:cNvCxnSpPr>
          <p:nvPr/>
        </p:nvCxnSpPr>
        <p:spPr>
          <a:xfrm>
            <a:off x="6060831" y="4019844"/>
            <a:ext cx="689317" cy="859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8E619458-D4A5-42AE-97AD-F1F14E4117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45" y="1972993"/>
            <a:ext cx="8834510" cy="2912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71583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CA10AD7-B409-4AFD-9979-1CBD138CA6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583" y="308732"/>
            <a:ext cx="6495094" cy="102700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5B2B04C-0574-497E-8EFE-B645DE1F2C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583" y="1730326"/>
            <a:ext cx="8114996" cy="445149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BA53746-25C1-4568-B466-9CE8EB125A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383" y="984738"/>
            <a:ext cx="7735233" cy="485335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CAD9712-C3EE-4B08-9B7C-23479351A90B}"/>
              </a:ext>
            </a:extLst>
          </p:cNvPr>
          <p:cNvSpPr txBox="1"/>
          <p:nvPr/>
        </p:nvSpPr>
        <p:spPr>
          <a:xfrm>
            <a:off x="1709224" y="1552694"/>
            <a:ext cx="4572000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nano system_info.sh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5C68683-EFB8-4A13-929A-6D3AD27B25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710" y="607815"/>
            <a:ext cx="8848579" cy="2807572"/>
          </a:xfrm>
          <a:prstGeom prst="rect">
            <a:avLst/>
          </a:prstGeom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944EE098-7EA7-478A-A52D-B3FECCE330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962" y="3941861"/>
            <a:ext cx="7751300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What this exercise does: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We create a shell script named system_info.sh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script collects basic system information using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SNMP commands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It displays information like system name, description, contact, location, and uptime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r>
              <a:rPr lang="en-US" sz="1600" b="1" dirty="0"/>
              <a:t>Why we do this:</a:t>
            </a: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To learn how SNMP can be used to monitor systems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To understand how to fetch specific data fields using MIB objects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To practice automation using a shell script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63D907A-F9BA-4C86-AB45-EBE16ECD11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95" y="351693"/>
            <a:ext cx="7496373" cy="101485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A98432D-ECE9-4998-91F8-25E0A36BF3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707" y="1547446"/>
            <a:ext cx="7061981" cy="423437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D4C5ACF-6D48-4D60-9F44-156B6C37EA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1342" y="196948"/>
            <a:ext cx="5477413" cy="233523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4143684-F826-404C-9254-DAC1DF158609}"/>
              </a:ext>
            </a:extLst>
          </p:cNvPr>
          <p:cNvSpPr txBox="1"/>
          <p:nvPr/>
        </p:nvSpPr>
        <p:spPr>
          <a:xfrm>
            <a:off x="478300" y="2644727"/>
            <a:ext cx="8187397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What the exercise does?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Continuously checks the system’s </a:t>
            </a:r>
            <a:r>
              <a:rPr lang="en-US" b="1" dirty="0"/>
              <a:t>uptime</a:t>
            </a:r>
            <a:r>
              <a:rPr lang="en-US" dirty="0"/>
              <a:t> using SNMP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Prints the current </a:t>
            </a:r>
            <a:r>
              <a:rPr lang="en-US" b="1" dirty="0"/>
              <a:t>time</a:t>
            </a:r>
            <a:r>
              <a:rPr lang="en-US" dirty="0"/>
              <a:t> and </a:t>
            </a:r>
            <a:r>
              <a:rPr lang="en-US" b="1" dirty="0"/>
              <a:t>uptime</a:t>
            </a:r>
            <a:r>
              <a:rPr lang="en-US" dirty="0"/>
              <a:t> every 5 seconds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Lets us </a:t>
            </a:r>
            <a:r>
              <a:rPr lang="en-US" b="1" dirty="0"/>
              <a:t>monitor uptime changes in real-time</a:t>
            </a:r>
          </a:p>
          <a:p>
            <a:endParaRPr lang="en-US" b="1" dirty="0"/>
          </a:p>
          <a:p>
            <a:r>
              <a:rPr lang="en-US" b="1" dirty="0"/>
              <a:t>Why we do this exercise (Purpose)?</a:t>
            </a:r>
          </a:p>
          <a:p>
            <a:r>
              <a:rPr lang="en-US" b="1" dirty="0"/>
              <a:t>1. Real-time Monitoring: </a:t>
            </a:r>
            <a:r>
              <a:rPr lang="en-US" dirty="0"/>
              <a:t>We learn how SNMP can be used for </a:t>
            </a:r>
            <a:r>
              <a:rPr lang="en-US" b="1" dirty="0"/>
              <a:t>continuous monitoring</a:t>
            </a:r>
            <a:r>
              <a:rPr lang="en-US" dirty="0"/>
              <a:t> instead of just single queries.</a:t>
            </a:r>
          </a:p>
          <a:p>
            <a:r>
              <a:rPr lang="en-US" b="1" dirty="0"/>
              <a:t>2. Detecting Restarts : </a:t>
            </a:r>
            <a:r>
              <a:rPr lang="en-US" dirty="0"/>
              <a:t>If uptime resets to a smaller value, we know the system was </a:t>
            </a:r>
            <a:r>
              <a:rPr lang="en-US" b="1" dirty="0"/>
              <a:t>rebooted</a:t>
            </a:r>
            <a:r>
              <a:rPr lang="en-US" dirty="0"/>
              <a:t>.</a:t>
            </a:r>
          </a:p>
          <a:p>
            <a:r>
              <a:rPr lang="en-US" b="1" dirty="0"/>
              <a:t>3. Automation: </a:t>
            </a:r>
            <a:r>
              <a:rPr lang="en-US" dirty="0"/>
              <a:t>The script runs automatically every 5 seconds without manual work.</a:t>
            </a:r>
          </a:p>
          <a:p>
            <a:r>
              <a:rPr lang="en-US" b="1" dirty="0"/>
              <a:t>4. Practical Networking Skill : </a:t>
            </a:r>
            <a:r>
              <a:rPr lang="en-US" dirty="0"/>
              <a:t>Network monitoring tools (Zabbix, Nagios, </a:t>
            </a:r>
            <a:r>
              <a:rPr lang="en-US" dirty="0" err="1"/>
              <a:t>LibreNMS</a:t>
            </a:r>
            <a:r>
              <a:rPr lang="en-US" dirty="0"/>
              <a:t>) do the same thing — this gives basic understanding.</a:t>
            </a:r>
          </a:p>
        </p:txBody>
      </p:sp>
    </p:spTree>
    <p:extLst>
      <p:ext uri="{BB962C8B-B14F-4D97-AF65-F5344CB8AC3E}">
        <p14:creationId xmlns:p14="http://schemas.microsoft.com/office/powerpoint/2010/main" val="40499372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B6A4C63-7886-46D9-A391-AEF5BA8BC7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802" y="458226"/>
            <a:ext cx="5548899" cy="530952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2C87D95-8714-4D29-86AA-9979D6ED1E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4514" y="851828"/>
            <a:ext cx="4733925" cy="30589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1C8EEDF-8B02-4EDC-AD8A-5323FA1D076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22329"/>
          <a:stretch/>
        </p:blipFill>
        <p:spPr>
          <a:xfrm>
            <a:off x="5198159" y="5226148"/>
            <a:ext cx="3710280" cy="1083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2630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5E0D4D9-ADA9-43D1-AF37-8A1BF7B8B9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" y="590550"/>
            <a:ext cx="9039225" cy="567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4159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66218"/>
            <a:ext cx="7886700" cy="1325563"/>
          </a:xfrm>
        </p:spPr>
        <p:txBody>
          <a:bodyPr/>
          <a:lstStyle/>
          <a:p>
            <a:pPr algn="ctr"/>
            <a:r>
              <a:rPr lang="en-US" dirty="0">
                <a:latin typeface="Algerian" panose="04020705040A02060702" pitchFamily="82" charset="0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404</TotalTime>
  <Words>347</Words>
  <Application>Microsoft Office PowerPoint</Application>
  <PresentationFormat>On-screen Show (4:3)</PresentationFormat>
  <Paragraphs>44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Algerian</vt:lpstr>
      <vt:lpstr>Arial</vt:lpstr>
      <vt:lpstr>Calibri</vt:lpstr>
      <vt:lpstr>Calibri Light</vt:lpstr>
      <vt:lpstr>Office Theme</vt:lpstr>
      <vt:lpstr>Simple Network Management Protocol (SNMP)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shobnommushtary01@gmail.com</dc:creator>
  <cp:lastModifiedBy>shobnommushtary01@gmail.com</cp:lastModifiedBy>
  <cp:revision>12</cp:revision>
  <dcterms:created xsi:type="dcterms:W3CDTF">2025-11-04T06:00:00Z</dcterms:created>
  <dcterms:modified xsi:type="dcterms:W3CDTF">2026-01-14T16:59:39Z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90A5C1AA4B184A28B5B4674C370EB206_12</vt:lpwstr>
  </property>
  <property fmtid="{D5CDD505-2E9C-101B-9397-08002B2CF9AE}" pid="3" name="KSOProductBuildVer">
    <vt:lpwstr>1033-12.2.0.23131</vt:lpwstr>
  </property>
</Properties>
</file>